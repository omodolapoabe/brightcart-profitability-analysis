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11.svg" ContentType="image/svg+xml"/>
  <Override PartName="/ppt/media/image22.svg" ContentType="image/svg+xml"/>
  <Override PartName="/ppt/media/image25.svg" ContentType="image/svg+xml"/>
  <Override PartName="/ppt/media/image3.svg" ContentType="image/svg+xml"/>
  <Override PartName="/ppt/media/image7.svg" ContentType="image/svg+xml"/>
  <Override PartName="/ppt/media/image9.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8288000" cy="10287000"/>
  <p:notesSz cx="6858000" cy="9144000"/>
  <p:embeddedFontLst>
    <p:embeddedFont>
      <p:font typeface="Poppins Bold" panose="00000800000000000000"/>
      <p:bold r:id="rId25"/>
    </p:embeddedFont>
    <p:embeddedFont>
      <p:font typeface="Poppins" panose="00000500000000000000"/>
      <p:regular r:id="rId26"/>
    </p:embeddedFont>
    <p:embeddedFont>
      <p:font typeface="Bricolage Grotesque" panose="020B0605040402000204"/>
      <p:regular r:id="rId27"/>
    </p:embeddedFont>
    <p:embeddedFont>
      <p:font typeface="Bricolage Grotesque Bold" panose="020B0605040402000204"/>
      <p:bold r:id="rId28"/>
    </p:embeddedFont>
    <p:embeddedFont>
      <p:font typeface="Canva Sans Bold" panose="020B0803030501040103"/>
      <p:bold r:id="rId29"/>
    </p:embeddedFont>
    <p:embeddedFont>
      <p:font typeface="Calibri" panose="020F050202020403020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font" Target="fonts/font9.fntdata"/><Relationship Id="rId32" Type="http://schemas.openxmlformats.org/officeDocument/2006/relationships/font" Target="fonts/font8.fntdata"/><Relationship Id="rId31" Type="http://schemas.openxmlformats.org/officeDocument/2006/relationships/font" Target="fonts/font7.fntdata"/><Relationship Id="rId30" Type="http://schemas.openxmlformats.org/officeDocument/2006/relationships/font" Target="fonts/font6.fntdata"/><Relationship Id="rId3" Type="http://schemas.openxmlformats.org/officeDocument/2006/relationships/slide" Target="slides/slide1.xml"/><Relationship Id="rId29" Type="http://schemas.openxmlformats.org/officeDocument/2006/relationships/font" Target="fonts/font5.fntdata"/><Relationship Id="rId28" Type="http://schemas.openxmlformats.org/officeDocument/2006/relationships/font" Target="fonts/font4.fntdata"/><Relationship Id="rId27" Type="http://schemas.openxmlformats.org/officeDocument/2006/relationships/font" Target="fonts/font3.fntdata"/><Relationship Id="rId26" Type="http://schemas.openxmlformats.org/officeDocument/2006/relationships/font" Target="fonts/font2.fntdata"/><Relationship Id="rId25" Type="http://schemas.openxmlformats.org/officeDocument/2006/relationships/font" Target="fonts/font1.fntdata"/><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3.jpeg"/><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8.png"/><Relationship Id="rId2" Type="http://schemas.openxmlformats.org/officeDocument/2006/relationships/image" Target="../media/image3.sv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0.png"/><Relationship Id="rId1" Type="http://schemas.openxmlformats.org/officeDocument/2006/relationships/image" Target="../media/image19.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2.svg"/><Relationship Id="rId3" Type="http://schemas.openxmlformats.org/officeDocument/2006/relationships/image" Target="../media/image21.png"/><Relationship Id="rId2" Type="http://schemas.openxmlformats.org/officeDocument/2006/relationships/image" Target="../media/image3.svg"/><Relationship Id="rId1" Type="http://schemas.openxmlformats.org/officeDocument/2006/relationships/image" Target="../media/image12.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23.png"/><Relationship Id="rId2" Type="http://schemas.openxmlformats.org/officeDocument/2006/relationships/image" Target="../media/image3.svg"/><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5.png"/><Relationship Id="rId3" Type="http://schemas.openxmlformats.org/officeDocument/2006/relationships/image" Target="../media/image4.jpeg"/><Relationship Id="rId2" Type="http://schemas.openxmlformats.org/officeDocument/2006/relationships/image" Target="../media/image3.sv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2415882" cy="10287000"/>
            <a:chOff x="0" y="0"/>
            <a:chExt cx="636282" cy="2709333"/>
          </a:xfrm>
        </p:grpSpPr>
        <p:sp>
          <p:nvSpPr>
            <p:cNvPr id="3" name="Freeform 3"/>
            <p:cNvSpPr/>
            <p:nvPr/>
          </p:nvSpPr>
          <p:spPr>
            <a:xfrm>
              <a:off x="0" y="0"/>
              <a:ext cx="636282" cy="2709333"/>
            </a:xfrm>
            <a:custGeom>
              <a:avLst/>
              <a:gdLst/>
              <a:ahLst/>
              <a:cxnLst/>
              <a:rect l="l" t="t" r="r" b="b"/>
              <a:pathLst>
                <a:path w="636282" h="2709333">
                  <a:moveTo>
                    <a:pt x="0" y="0"/>
                  </a:moveTo>
                  <a:lnTo>
                    <a:pt x="636282" y="0"/>
                  </a:lnTo>
                  <a:lnTo>
                    <a:pt x="636282" y="2709333"/>
                  </a:lnTo>
                  <a:lnTo>
                    <a:pt x="0" y="2709333"/>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4" name="TextBox 4"/>
            <p:cNvSpPr txBox="1"/>
            <p:nvPr/>
          </p:nvSpPr>
          <p:spPr>
            <a:xfrm>
              <a:off x="0" y="-38100"/>
              <a:ext cx="636282" cy="2747433"/>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Freeform 5"/>
          <p:cNvSpPr/>
          <p:nvPr/>
        </p:nvSpPr>
        <p:spPr>
          <a:xfrm>
            <a:off x="9593138" y="728567"/>
            <a:ext cx="9198241" cy="9840352"/>
          </a:xfrm>
          <a:custGeom>
            <a:avLst/>
            <a:gdLst/>
            <a:ahLst/>
            <a:cxnLst/>
            <a:rect l="l" t="t" r="r" b="b"/>
            <a:pathLst>
              <a:path w="9198241" h="9840352">
                <a:moveTo>
                  <a:pt x="0" y="0"/>
                </a:moveTo>
                <a:lnTo>
                  <a:pt x="9198240" y="0"/>
                </a:lnTo>
                <a:lnTo>
                  <a:pt x="9198240" y="9840352"/>
                </a:lnTo>
                <a:lnTo>
                  <a:pt x="0" y="9840352"/>
                </a:lnTo>
                <a:lnTo>
                  <a:pt x="0" y="0"/>
                </a:lnTo>
                <a:close/>
              </a:path>
            </a:pathLst>
          </a:custGeom>
          <a:blipFill>
            <a:blip r:embed="rId1"/>
            <a:stretch>
              <a:fillRect/>
            </a:stretch>
          </a:blipFill>
        </p:spPr>
      </p:sp>
      <p:sp>
        <p:nvSpPr>
          <p:cNvPr id="6" name="TextBox 6"/>
          <p:cNvSpPr txBox="1"/>
          <p:nvPr/>
        </p:nvSpPr>
        <p:spPr>
          <a:xfrm>
            <a:off x="3699962" y="8334608"/>
            <a:ext cx="2061823" cy="274067"/>
          </a:xfrm>
          <a:prstGeom prst="rect">
            <a:avLst/>
          </a:prstGeom>
        </p:spPr>
        <p:txBody>
          <a:bodyPr lIns="0" tIns="0" rIns="0" bIns="0" rtlCol="0" anchor="t">
            <a:spAutoFit/>
          </a:bodyPr>
          <a:lstStyle/>
          <a:p>
            <a:pPr marL="0" lvl="0" indent="0" algn="l">
              <a:lnSpc>
                <a:spcPts val="1870"/>
              </a:lnSpc>
            </a:pPr>
            <a:r>
              <a:rPr lang="en-US" sz="2150" b="1">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PREPARED BY</a:t>
            </a:r>
            <a:endParaRPr lang="en-US" sz="2150" b="1">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7" name="TextBox 7"/>
          <p:cNvSpPr txBox="1"/>
          <p:nvPr/>
        </p:nvSpPr>
        <p:spPr>
          <a:xfrm>
            <a:off x="3699962" y="8706761"/>
            <a:ext cx="3233618" cy="324889"/>
          </a:xfrm>
          <a:prstGeom prst="rect">
            <a:avLst/>
          </a:prstGeom>
        </p:spPr>
        <p:txBody>
          <a:bodyPr lIns="0" tIns="0" rIns="0" bIns="0" rtlCol="0" anchor="t">
            <a:spAutoFit/>
          </a:bodyPr>
          <a:lstStyle/>
          <a:p>
            <a:pPr marL="0" lvl="0" indent="0" algn="l">
              <a:lnSpc>
                <a:spcPts val="2195"/>
              </a:lnSpc>
            </a:pPr>
            <a:r>
              <a:rPr lang="en-US" sz="2525">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DelveTek Interns</a:t>
            </a:r>
            <a:endParaRPr lang="en-US" sz="2525">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p:txBody>
      </p:sp>
      <p:grpSp>
        <p:nvGrpSpPr>
          <p:cNvPr id="8" name="Group 8"/>
          <p:cNvGrpSpPr/>
          <p:nvPr/>
        </p:nvGrpSpPr>
        <p:grpSpPr>
          <a:xfrm rot="0">
            <a:off x="3320099" y="8575916"/>
            <a:ext cx="100943" cy="10094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10" name="TextBox 10"/>
            <p:cNvSpPr txBox="1"/>
            <p:nvPr/>
          </p:nvSpPr>
          <p:spPr>
            <a:xfrm>
              <a:off x="76200" y="104775"/>
              <a:ext cx="660400" cy="631825"/>
            </a:xfrm>
            <a:prstGeom prst="rect">
              <a:avLst/>
            </a:prstGeom>
          </p:spPr>
          <p:txBody>
            <a:bodyPr lIns="72663" tIns="72663" rIns="72663" bIns="72663" rtlCol="0" anchor="ctr"/>
            <a:lstStyle/>
            <a:p>
              <a:pPr marL="0" lvl="0" indent="0" algn="ctr">
                <a:lnSpc>
                  <a:spcPts val="1310"/>
                </a:lnSpc>
              </a:pPr>
            </a:p>
          </p:txBody>
        </p:sp>
      </p:grpSp>
      <p:sp>
        <p:nvSpPr>
          <p:cNvPr id="11" name="TextBox 11"/>
          <p:cNvSpPr txBox="1"/>
          <p:nvPr/>
        </p:nvSpPr>
        <p:spPr>
          <a:xfrm>
            <a:off x="3320099" y="1327728"/>
            <a:ext cx="5996813" cy="3891786"/>
          </a:xfrm>
          <a:prstGeom prst="rect">
            <a:avLst/>
          </a:prstGeom>
        </p:spPr>
        <p:txBody>
          <a:bodyPr lIns="0" tIns="0" rIns="0" bIns="0" rtlCol="0" anchor="t">
            <a:spAutoFit/>
          </a:bodyPr>
          <a:lstStyle/>
          <a:p>
            <a:pPr marL="0" lvl="0" indent="0" algn="l">
              <a:lnSpc>
                <a:spcPts val="10060"/>
              </a:lnSpc>
            </a:pPr>
            <a:r>
              <a:rPr lang="en-US" sz="10270" spc="-65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BrightCart</a:t>
            </a:r>
            <a:endParaRPr lang="en-US" sz="10270" spc="-65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a:p>
            <a:pPr marL="0" lvl="0" indent="0" algn="l">
              <a:lnSpc>
                <a:spcPts val="10060"/>
              </a:lnSpc>
            </a:pPr>
            <a:r>
              <a:rPr lang="en-US" sz="10270" spc="-65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Profitability</a:t>
            </a:r>
            <a:endParaRPr lang="en-US" sz="10270" spc="-65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a:p>
            <a:pPr marL="0" lvl="0" indent="0" algn="l">
              <a:lnSpc>
                <a:spcPts val="10060"/>
              </a:lnSpc>
            </a:pPr>
            <a:r>
              <a:rPr lang="en-US" sz="10270" spc="-65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Analysis</a:t>
            </a:r>
            <a:endParaRPr lang="en-US" sz="10270" spc="-65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2" name="TextBox 12"/>
          <p:cNvSpPr txBox="1"/>
          <p:nvPr/>
        </p:nvSpPr>
        <p:spPr>
          <a:xfrm>
            <a:off x="3370571" y="5287815"/>
            <a:ext cx="5696631" cy="683757"/>
          </a:xfrm>
          <a:prstGeom prst="rect">
            <a:avLst/>
          </a:prstGeom>
        </p:spPr>
        <p:txBody>
          <a:bodyPr lIns="0" tIns="0" rIns="0" bIns="0" rtlCol="0" anchor="t">
            <a:spAutoFit/>
          </a:bodyPr>
          <a:lstStyle/>
          <a:p>
            <a:pPr marL="0" lvl="0" indent="0" algn="just">
              <a:lnSpc>
                <a:spcPts val="2655"/>
              </a:lnSpc>
            </a:pPr>
            <a:r>
              <a:rPr lang="en-US" sz="2075" spc="-6">
                <a:solidFill>
                  <a:srgbClr val="3A58E4"/>
                </a:solidFill>
                <a:latin typeface="Poppins" panose="00000500000000000000"/>
                <a:ea typeface="Poppins" panose="00000500000000000000"/>
                <a:cs typeface="Poppins" panose="00000500000000000000"/>
                <a:sym typeface="Poppins" panose="00000500000000000000"/>
              </a:rPr>
              <a:t>P</a:t>
            </a:r>
            <a:r>
              <a:rPr lang="en-US" sz="2075" spc="-6">
                <a:solidFill>
                  <a:srgbClr val="3A58E4"/>
                </a:solidFill>
                <a:latin typeface="Poppins" panose="00000500000000000000"/>
                <a:ea typeface="Poppins" panose="00000500000000000000"/>
                <a:cs typeface="Poppins" panose="00000500000000000000"/>
                <a:sym typeface="Poppins" panose="00000500000000000000"/>
              </a:rPr>
              <a:t>rofitability, Sales Channel &amp; Marketing ROI Analysis</a:t>
            </a:r>
            <a:endParaRPr lang="en-US" sz="2075" spc="-6">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355856" y="412536"/>
            <a:ext cx="1704171" cy="342132"/>
          </a:xfrm>
          <a:prstGeom prst="rect">
            <a:avLst/>
          </a:prstGeom>
        </p:spPr>
        <p:txBody>
          <a:bodyPr lIns="0" tIns="0" rIns="0" bIns="0" rtlCol="0" anchor="t">
            <a:spAutoFit/>
          </a:bodyPr>
          <a:lstStyle/>
          <a:p>
            <a:pPr marL="0" lvl="0" indent="0" algn="ctr">
              <a:lnSpc>
                <a:spcPts val="2420"/>
              </a:lnSpc>
            </a:pPr>
            <a:r>
              <a:rPr lang="en-US" sz="2260" b="1">
                <a:solidFill>
                  <a:srgbClr val="FFFFFF"/>
                </a:solidFill>
                <a:latin typeface="Poppins Bold" panose="00000800000000000000"/>
                <a:ea typeface="Poppins Bold" panose="00000800000000000000"/>
                <a:cs typeface="Poppins Bold" panose="00000800000000000000"/>
                <a:sym typeface="Poppins Bold" panose="00000800000000000000"/>
              </a:rPr>
              <a:t>BrightCart</a:t>
            </a:r>
            <a:endParaRPr lang="en-US" sz="2260" b="1">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370508" y="738092"/>
            <a:ext cx="1704171" cy="290608"/>
          </a:xfrm>
          <a:prstGeom prst="rect">
            <a:avLst/>
          </a:prstGeom>
        </p:spPr>
        <p:txBody>
          <a:bodyPr lIns="0" tIns="0" rIns="0" bIns="0" rtlCol="0" anchor="t">
            <a:spAutoFit/>
          </a:bodyPr>
          <a:lstStyle/>
          <a:p>
            <a:pPr marL="0" lvl="0" indent="0" algn="ctr">
              <a:lnSpc>
                <a:spcPts val="2165"/>
              </a:lnSpc>
            </a:pPr>
            <a:r>
              <a:rPr lang="en-US" sz="2025">
                <a:solidFill>
                  <a:srgbClr val="FFFFFF"/>
                </a:solidFill>
                <a:latin typeface="Poppins" panose="00000500000000000000"/>
                <a:ea typeface="Poppins" panose="00000500000000000000"/>
                <a:cs typeface="Poppins" panose="00000500000000000000"/>
                <a:sym typeface="Poppins" panose="00000500000000000000"/>
              </a:rPr>
              <a:t>E-commerce</a:t>
            </a:r>
            <a:endParaRPr lang="en-US" sz="2025">
              <a:solidFill>
                <a:srgbClr val="FFFFFF"/>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542172" y="1217530"/>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TextBox 5"/>
          <p:cNvSpPr txBox="1"/>
          <p:nvPr/>
        </p:nvSpPr>
        <p:spPr>
          <a:xfrm>
            <a:off x="2913647" y="6045048"/>
            <a:ext cx="7106119" cy="451551"/>
          </a:xfrm>
          <a:prstGeom prst="rect">
            <a:avLst/>
          </a:prstGeom>
        </p:spPr>
        <p:txBody>
          <a:bodyPr lIns="0" tIns="0" rIns="0" bIns="0" rtlCol="0" anchor="t">
            <a:spAutoFit/>
          </a:bodyPr>
          <a:lstStyle/>
          <a:p>
            <a:pPr marL="0" lvl="0" indent="0" algn="l">
              <a:lnSpc>
                <a:spcPts val="3460"/>
              </a:lnSpc>
            </a:pPr>
            <a:r>
              <a:rPr lang="en-US" sz="2470" b="1" spc="-61">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WH</a:t>
            </a:r>
            <a:r>
              <a:rPr lang="en-US" sz="2470" b="1" spc="-61">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AT'S THE BUSINESS PROBLEM?</a:t>
            </a:r>
            <a:endParaRPr lang="en-US" sz="2470" b="1" spc="-61">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6" name="Freeform 6"/>
          <p:cNvSpPr/>
          <p:nvPr/>
        </p:nvSpPr>
        <p:spPr>
          <a:xfrm rot="-7029573">
            <a:off x="17469288" y="9438955"/>
            <a:ext cx="410144" cy="495779"/>
          </a:xfrm>
          <a:custGeom>
            <a:avLst/>
            <a:gdLst/>
            <a:ahLst/>
            <a:cxnLst/>
            <a:rect l="l" t="t" r="r" b="b"/>
            <a:pathLst>
              <a:path w="410144" h="495779">
                <a:moveTo>
                  <a:pt x="0" y="0"/>
                </a:moveTo>
                <a:lnTo>
                  <a:pt x="410144" y="0"/>
                </a:lnTo>
                <a:lnTo>
                  <a:pt x="410144" y="495779"/>
                </a:lnTo>
                <a:lnTo>
                  <a:pt x="0" y="49577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rot="0">
            <a:off x="0" y="0"/>
            <a:ext cx="2203815" cy="10287000"/>
            <a:chOff x="0" y="0"/>
            <a:chExt cx="341429" cy="1593725"/>
          </a:xfrm>
        </p:grpSpPr>
        <p:sp>
          <p:nvSpPr>
            <p:cNvPr id="8" name="Freeform 8"/>
            <p:cNvSpPr/>
            <p:nvPr/>
          </p:nvSpPr>
          <p:spPr>
            <a:xfrm>
              <a:off x="0" y="0"/>
              <a:ext cx="341429" cy="1593725"/>
            </a:xfrm>
            <a:custGeom>
              <a:avLst/>
              <a:gdLst/>
              <a:ahLst/>
              <a:cxnLst/>
              <a:rect l="l" t="t" r="r" b="b"/>
              <a:pathLst>
                <a:path w="341429" h="1593725">
                  <a:moveTo>
                    <a:pt x="0" y="0"/>
                  </a:moveTo>
                  <a:lnTo>
                    <a:pt x="341429" y="0"/>
                  </a:lnTo>
                  <a:lnTo>
                    <a:pt x="341429" y="1593725"/>
                  </a:lnTo>
                  <a:lnTo>
                    <a:pt x="0" y="1593725"/>
                  </a:lnTo>
                  <a:close/>
                </a:path>
              </a:pathLst>
            </a:custGeom>
            <a:blipFill>
              <a:blip r:embed="rId3"/>
              <a:stretch>
                <a:fillRect l="-280075" r="-280075"/>
              </a:stretch>
            </a:blipFill>
          </p:spPr>
        </p:sp>
      </p:grpSp>
      <p:grpSp>
        <p:nvGrpSpPr>
          <p:cNvPr id="9" name="Group 9"/>
          <p:cNvGrpSpPr/>
          <p:nvPr/>
        </p:nvGrpSpPr>
        <p:grpSpPr>
          <a:xfrm rot="0">
            <a:off x="16438046" y="209937"/>
            <a:ext cx="1849954" cy="1638229"/>
            <a:chOff x="0" y="0"/>
            <a:chExt cx="2466605" cy="2184305"/>
          </a:xfrm>
        </p:grpSpPr>
        <p:grpSp>
          <p:nvGrpSpPr>
            <p:cNvPr id="10" name="Group 10"/>
            <p:cNvGrpSpPr/>
            <p:nvPr/>
          </p:nvGrpSpPr>
          <p:grpSpPr>
            <a:xfrm rot="0">
              <a:off x="0" y="0"/>
              <a:ext cx="2466605" cy="2184305"/>
              <a:chOff x="0" y="0"/>
              <a:chExt cx="787566" cy="697430"/>
            </a:xfrm>
          </p:grpSpPr>
          <p:sp>
            <p:nvSpPr>
              <p:cNvPr id="11" name="Freeform 11"/>
              <p:cNvSpPr/>
              <p:nvPr/>
            </p:nvSpPr>
            <p:spPr>
              <a:xfrm>
                <a:off x="0" y="0"/>
                <a:ext cx="787566" cy="697430"/>
              </a:xfrm>
              <a:custGeom>
                <a:avLst/>
                <a:gdLst/>
                <a:ahLst/>
                <a:cxnLst/>
                <a:rect l="l" t="t" r="r" b="b"/>
                <a:pathLst>
                  <a:path w="787566" h="697430">
                    <a:moveTo>
                      <a:pt x="0" y="0"/>
                    </a:moveTo>
                    <a:lnTo>
                      <a:pt x="787566" y="0"/>
                    </a:lnTo>
                    <a:lnTo>
                      <a:pt x="787566" y="697430"/>
                    </a:lnTo>
                    <a:lnTo>
                      <a:pt x="0" y="69743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735530"/>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319164" y="674999"/>
              <a:ext cx="1828278" cy="939082"/>
            </a:xfrm>
            <a:prstGeom prst="rect">
              <a:avLst/>
            </a:prstGeom>
          </p:spPr>
          <p:txBody>
            <a:bodyPr lIns="0" tIns="0" rIns="0" bIns="0" rtlCol="0" anchor="t">
              <a:spAutoFit/>
            </a:bodyPr>
            <a:lstStyle/>
            <a:p>
              <a:pPr marL="0" lvl="0" indent="0" algn="ctr">
                <a:lnSpc>
                  <a:spcPts val="5075"/>
                </a:lnSpc>
              </a:pPr>
              <a:r>
                <a:rPr lang="en-US" sz="5180" spc="-33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02</a:t>
              </a:r>
              <a:endParaRPr lang="en-US" sz="5180" spc="-33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4" name="AutoShape 14"/>
          <p:cNvSpPr/>
          <p:nvPr/>
        </p:nvSpPr>
        <p:spPr>
          <a:xfrm flipH="1">
            <a:off x="2213340" y="0"/>
            <a:ext cx="0" cy="10287000"/>
          </a:xfrm>
          <a:prstGeom prst="line">
            <a:avLst/>
          </a:prstGeom>
          <a:ln w="19050" cap="rnd">
            <a:solidFill>
              <a:srgbClr val="3A58E4"/>
            </a:solidFill>
            <a:prstDash val="solid"/>
            <a:headEnd type="none" w="sm" len="sm"/>
            <a:tailEnd type="none" w="sm" len="sm"/>
          </a:ln>
        </p:spPr>
      </p:sp>
      <p:sp>
        <p:nvSpPr>
          <p:cNvPr id="15" name="Freeform 15"/>
          <p:cNvSpPr/>
          <p:nvPr/>
        </p:nvSpPr>
        <p:spPr>
          <a:xfrm>
            <a:off x="13467324" y="2009219"/>
            <a:ext cx="2350556" cy="457290"/>
          </a:xfrm>
          <a:custGeom>
            <a:avLst/>
            <a:gdLst/>
            <a:ahLst/>
            <a:cxnLst/>
            <a:rect l="l" t="t" r="r" b="b"/>
            <a:pathLst>
              <a:path w="2350556" h="457290">
                <a:moveTo>
                  <a:pt x="0" y="0"/>
                </a:moveTo>
                <a:lnTo>
                  <a:pt x="2350556" y="0"/>
                </a:lnTo>
                <a:lnTo>
                  <a:pt x="2350556" y="457290"/>
                </a:lnTo>
                <a:lnTo>
                  <a:pt x="0" y="457290"/>
                </a:lnTo>
                <a:lnTo>
                  <a:pt x="0" y="0"/>
                </a:lnTo>
                <a:close/>
              </a:path>
            </a:pathLst>
          </a:custGeom>
          <a:blipFill>
            <a:blip r:embed="rId4"/>
            <a:stretch>
              <a:fillRect/>
            </a:stretch>
          </a:blipFill>
        </p:spPr>
      </p:sp>
      <p:sp>
        <p:nvSpPr>
          <p:cNvPr id="16" name="TextBox 16"/>
          <p:cNvSpPr txBox="1"/>
          <p:nvPr/>
        </p:nvSpPr>
        <p:spPr>
          <a:xfrm>
            <a:off x="2913647" y="1704203"/>
            <a:ext cx="11567811" cy="1276872"/>
          </a:xfrm>
          <a:prstGeom prst="rect">
            <a:avLst/>
          </a:prstGeom>
        </p:spPr>
        <p:txBody>
          <a:bodyPr lIns="0" tIns="0" rIns="0" bIns="0" rtlCol="0" anchor="t">
            <a:spAutoFit/>
          </a:bodyPr>
          <a:lstStyle/>
          <a:p>
            <a:pPr marL="0" lvl="0" indent="0" algn="l">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Problem Statement</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7" name="TextBox 17"/>
          <p:cNvSpPr txBox="1"/>
          <p:nvPr/>
        </p:nvSpPr>
        <p:spPr>
          <a:xfrm>
            <a:off x="2204720" y="3442970"/>
            <a:ext cx="14677390" cy="2733040"/>
          </a:xfrm>
          <a:prstGeom prst="rect">
            <a:avLst/>
          </a:prstGeom>
        </p:spPr>
        <p:txBody>
          <a:bodyPr wrap="square" lIns="0" tIns="0" rIns="0" bIns="0" rtlCol="0" anchor="t">
            <a:spAutoFit/>
          </a:bodyPr>
          <a:lstStyle/>
          <a:p>
            <a:pPr marL="0" lvl="0" indent="0" algn="l">
              <a:lnSpc>
                <a:spcPts val="3045"/>
              </a:lnSpc>
            </a:pPr>
            <a:r>
              <a:rPr lang="en-US" sz="2175" spc="-6">
                <a:solidFill>
                  <a:srgbClr val="3A58E4"/>
                </a:solidFill>
                <a:latin typeface="Poppins" panose="00000500000000000000"/>
                <a:ea typeface="Poppins" panose="00000500000000000000"/>
                <a:cs typeface="Poppins" panose="00000500000000000000"/>
                <a:sym typeface="Poppins" panose="00000500000000000000"/>
              </a:rPr>
              <a:t>BrightCart has experienced strong sales growth, generating over $1 million in gross revenue across multiple products and sales channels. However, despite increasing revenue, profit margins have continued to decline.</a:t>
            </a:r>
            <a:endParaRPr lang="en-US" sz="2175" spc="-6">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l">
              <a:lnSpc>
                <a:spcPts val="3045"/>
              </a:lnSpc>
            </a:pPr>
            <a:r>
              <a:rPr lang="en-US" sz="2175" spc="-6">
                <a:solidFill>
                  <a:srgbClr val="3A58E4"/>
                </a:solidFill>
                <a:latin typeface="Poppins" panose="00000500000000000000"/>
                <a:ea typeface="Poppins" panose="00000500000000000000"/>
                <a:cs typeface="Poppins" panose="00000500000000000000"/>
                <a:sym typeface="Poppins" panose="00000500000000000000"/>
              </a:rPr>
              <a:t>This project aims to analyze product profitability, sales channel performance, product returns and marketing effectiveness to identify the key drivers of profitability and provide data-driven recommendations for improving business performance.</a:t>
            </a:r>
            <a:endParaRPr lang="en-US" sz="2175" spc="-6">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l">
              <a:lnSpc>
                <a:spcPts val="3045"/>
              </a:lnSpc>
            </a:pPr>
          </a:p>
        </p:txBody>
      </p:sp>
      <p:sp>
        <p:nvSpPr>
          <p:cNvPr id="18" name="TextBox 18"/>
          <p:cNvSpPr txBox="1"/>
          <p:nvPr/>
        </p:nvSpPr>
        <p:spPr>
          <a:xfrm>
            <a:off x="2565984" y="6819168"/>
            <a:ext cx="12919635" cy="3059407"/>
          </a:xfrm>
          <a:prstGeom prst="rect">
            <a:avLst/>
          </a:prstGeom>
        </p:spPr>
        <p:txBody>
          <a:bodyPr lIns="0" tIns="0" rIns="0" bIns="0" rtlCol="0" anchor="t">
            <a:spAutoFit/>
          </a:bodyPr>
          <a:lstStyle/>
          <a:p>
            <a:pPr marL="469900" lvl="1" indent="-234950" algn="l">
              <a:lnSpc>
                <a:spcPts val="3045"/>
              </a:lnSpc>
              <a:buFont typeface="Arial" panose="020B0604020202020204"/>
              <a:buChar char="•"/>
            </a:pPr>
            <a:r>
              <a:rPr lang="en-US" sz="2175" spc="-6">
                <a:solidFill>
                  <a:srgbClr val="3A58E4"/>
                </a:solidFill>
                <a:latin typeface="Poppins" panose="00000500000000000000"/>
                <a:ea typeface="Poppins" panose="00000500000000000000"/>
                <a:cs typeface="Poppins" panose="00000500000000000000"/>
                <a:sym typeface="Poppins" panose="00000500000000000000"/>
              </a:rPr>
              <a:t>Declining profit margins despite strong revenue growth.</a:t>
            </a:r>
            <a:endParaRPr lang="en-US" sz="2175" spc="-6">
              <a:solidFill>
                <a:srgbClr val="3A58E4"/>
              </a:solidFill>
              <a:latin typeface="Poppins" panose="00000500000000000000"/>
              <a:ea typeface="Poppins" panose="00000500000000000000"/>
              <a:cs typeface="Poppins" panose="00000500000000000000"/>
              <a:sym typeface="Poppins" panose="00000500000000000000"/>
            </a:endParaRPr>
          </a:p>
          <a:p>
            <a:pPr marL="469900" lvl="1" indent="-234950" algn="l">
              <a:lnSpc>
                <a:spcPts val="3045"/>
              </a:lnSpc>
              <a:buFont typeface="Arial" panose="020B0604020202020204"/>
              <a:buChar char="•"/>
            </a:pPr>
            <a:r>
              <a:rPr lang="en-US" sz="2175" spc="-6">
                <a:solidFill>
                  <a:srgbClr val="3A58E4"/>
                </a:solidFill>
                <a:latin typeface="Poppins" panose="00000500000000000000"/>
                <a:ea typeface="Poppins" panose="00000500000000000000"/>
                <a:cs typeface="Poppins" panose="00000500000000000000"/>
                <a:sym typeface="Poppins" panose="00000500000000000000"/>
              </a:rPr>
              <a:t>Limited visibility into the profitability of products, sales channels, and marketing campaigns.</a:t>
            </a:r>
            <a:endParaRPr lang="en-US" sz="2175" spc="-6">
              <a:solidFill>
                <a:srgbClr val="3A58E4"/>
              </a:solidFill>
              <a:latin typeface="Poppins" panose="00000500000000000000"/>
              <a:ea typeface="Poppins" panose="00000500000000000000"/>
              <a:cs typeface="Poppins" panose="00000500000000000000"/>
              <a:sym typeface="Poppins" panose="00000500000000000000"/>
            </a:endParaRPr>
          </a:p>
          <a:p>
            <a:pPr marL="469900" lvl="1" indent="-234950" algn="l">
              <a:lnSpc>
                <a:spcPts val="3045"/>
              </a:lnSpc>
              <a:buFont typeface="Arial" panose="020B0604020202020204"/>
              <a:buChar char="•"/>
            </a:pPr>
            <a:r>
              <a:rPr lang="en-US" sz="2175" spc="-6">
                <a:solidFill>
                  <a:srgbClr val="3A58E4"/>
                </a:solidFill>
                <a:latin typeface="Poppins" panose="00000500000000000000"/>
                <a:ea typeface="Poppins" panose="00000500000000000000"/>
                <a:cs typeface="Poppins" panose="00000500000000000000"/>
                <a:sym typeface="Poppins" panose="00000500000000000000"/>
              </a:rPr>
              <a:t>Uncertainty about the impact of shipping costs, platform fees, returns, and marketing spend on overall profitability.</a:t>
            </a:r>
            <a:endParaRPr lang="en-US" sz="2175" spc="-6">
              <a:solidFill>
                <a:srgbClr val="3A58E4"/>
              </a:solidFill>
              <a:latin typeface="Poppins" panose="00000500000000000000"/>
              <a:ea typeface="Poppins" panose="00000500000000000000"/>
              <a:cs typeface="Poppins" panose="00000500000000000000"/>
              <a:sym typeface="Poppins" panose="00000500000000000000"/>
            </a:endParaRPr>
          </a:p>
          <a:p>
            <a:pPr marL="469900" lvl="1" indent="-234950" algn="l">
              <a:lnSpc>
                <a:spcPts val="3045"/>
              </a:lnSpc>
              <a:buFont typeface="Arial" panose="020B0604020202020204"/>
              <a:buChar char="•"/>
            </a:pPr>
            <a:r>
              <a:rPr lang="en-US" sz="2175" spc="-6">
                <a:solidFill>
                  <a:srgbClr val="3A58E4"/>
                </a:solidFill>
                <a:latin typeface="Poppins" panose="00000500000000000000"/>
                <a:ea typeface="Poppins" panose="00000500000000000000"/>
                <a:cs typeface="Poppins" panose="00000500000000000000"/>
                <a:sym typeface="Poppins" panose="00000500000000000000"/>
              </a:rPr>
              <a:t>Goal: Identify the key drivers of profitability and recommend strategies to improve business performance.</a:t>
            </a:r>
            <a:endParaRPr lang="en-US" sz="2175" spc="-6">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l">
              <a:lnSpc>
                <a:spcPts val="3045"/>
              </a:lnSpc>
            </a:p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7741311" y="3113810"/>
            <a:ext cx="546689" cy="7173190"/>
            <a:chOff x="0" y="0"/>
            <a:chExt cx="143984" cy="1889235"/>
          </a:xfrm>
        </p:grpSpPr>
        <p:sp>
          <p:nvSpPr>
            <p:cNvPr id="3" name="Freeform 3"/>
            <p:cNvSpPr/>
            <p:nvPr/>
          </p:nvSpPr>
          <p:spPr>
            <a:xfrm>
              <a:off x="0" y="0"/>
              <a:ext cx="143984" cy="1889235"/>
            </a:xfrm>
            <a:custGeom>
              <a:avLst/>
              <a:gdLst/>
              <a:ahLst/>
              <a:cxnLst/>
              <a:rect l="l" t="t" r="r" b="b"/>
              <a:pathLst>
                <a:path w="143984" h="1889235">
                  <a:moveTo>
                    <a:pt x="0" y="0"/>
                  </a:moveTo>
                  <a:lnTo>
                    <a:pt x="143984" y="0"/>
                  </a:lnTo>
                  <a:lnTo>
                    <a:pt x="143984" y="1889235"/>
                  </a:lnTo>
                  <a:lnTo>
                    <a:pt x="0" y="1889235"/>
                  </a:ln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p:spPr>
        </p:sp>
        <p:sp>
          <p:nvSpPr>
            <p:cNvPr id="4" name="TextBox 4"/>
            <p:cNvSpPr txBox="1"/>
            <p:nvPr/>
          </p:nvSpPr>
          <p:spPr>
            <a:xfrm>
              <a:off x="0" y="-38100"/>
              <a:ext cx="143984" cy="1927335"/>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AutoShape 5"/>
          <p:cNvSpPr/>
          <p:nvPr/>
        </p:nvSpPr>
        <p:spPr>
          <a:xfrm>
            <a:off x="5839578" y="3155263"/>
            <a:ext cx="0" cy="7131737"/>
          </a:xfrm>
          <a:prstGeom prst="line">
            <a:avLst/>
          </a:prstGeom>
          <a:ln w="19050" cap="rnd">
            <a:solidFill>
              <a:srgbClr val="3A58E4"/>
            </a:solidFill>
            <a:prstDash val="solid"/>
            <a:headEnd type="none" w="sm" len="sm"/>
            <a:tailEnd type="none" w="sm" len="sm"/>
          </a:ln>
        </p:spPr>
      </p:sp>
      <p:sp>
        <p:nvSpPr>
          <p:cNvPr id="6" name="AutoShape 6"/>
          <p:cNvSpPr/>
          <p:nvPr/>
        </p:nvSpPr>
        <p:spPr>
          <a:xfrm>
            <a:off x="12057027" y="3123335"/>
            <a:ext cx="0" cy="7163665"/>
          </a:xfrm>
          <a:prstGeom prst="line">
            <a:avLst/>
          </a:prstGeom>
          <a:ln w="19050" cap="rnd">
            <a:solidFill>
              <a:srgbClr val="3A58E4"/>
            </a:solidFill>
            <a:prstDash val="solid"/>
            <a:headEnd type="none" w="sm" len="sm"/>
            <a:tailEnd type="none" w="sm" len="sm"/>
          </a:ln>
        </p:spPr>
      </p:sp>
      <p:sp>
        <p:nvSpPr>
          <p:cNvPr id="7" name="AutoShape 7"/>
          <p:cNvSpPr/>
          <p:nvPr/>
        </p:nvSpPr>
        <p:spPr>
          <a:xfrm>
            <a:off x="0" y="3142385"/>
            <a:ext cx="18288000" cy="0"/>
          </a:xfrm>
          <a:prstGeom prst="line">
            <a:avLst/>
          </a:prstGeom>
          <a:ln w="19050" cap="rnd">
            <a:solidFill>
              <a:srgbClr val="3A58E4"/>
            </a:solidFill>
            <a:prstDash val="solid"/>
            <a:headEnd type="none" w="sm" len="sm"/>
            <a:tailEnd type="none" w="sm" len="sm"/>
          </a:ln>
        </p:spPr>
      </p:sp>
      <p:sp>
        <p:nvSpPr>
          <p:cNvPr id="8" name="Freeform 8"/>
          <p:cNvSpPr/>
          <p:nvPr/>
        </p:nvSpPr>
        <p:spPr>
          <a:xfrm rot="-5400000">
            <a:off x="14319468" y="4274651"/>
            <a:ext cx="1136546" cy="1175001"/>
          </a:xfrm>
          <a:custGeom>
            <a:avLst/>
            <a:gdLst/>
            <a:ahLst/>
            <a:cxnLst/>
            <a:rect l="l" t="t" r="r" b="b"/>
            <a:pathLst>
              <a:path w="1136546" h="1175001">
                <a:moveTo>
                  <a:pt x="0" y="0"/>
                </a:moveTo>
                <a:lnTo>
                  <a:pt x="1136546" y="0"/>
                </a:lnTo>
                <a:lnTo>
                  <a:pt x="1136546" y="1175001"/>
                </a:lnTo>
                <a:lnTo>
                  <a:pt x="0" y="117500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9" name="Freeform 9"/>
          <p:cNvSpPr/>
          <p:nvPr/>
        </p:nvSpPr>
        <p:spPr>
          <a:xfrm>
            <a:off x="1726765" y="4422944"/>
            <a:ext cx="1751511" cy="1050907"/>
          </a:xfrm>
          <a:custGeom>
            <a:avLst/>
            <a:gdLst/>
            <a:ahLst/>
            <a:cxnLst/>
            <a:rect l="l" t="t" r="r" b="b"/>
            <a:pathLst>
              <a:path w="1751511" h="1050907">
                <a:moveTo>
                  <a:pt x="0" y="0"/>
                </a:moveTo>
                <a:lnTo>
                  <a:pt x="1751511" y="0"/>
                </a:lnTo>
                <a:lnTo>
                  <a:pt x="1751511" y="1050907"/>
                </a:lnTo>
                <a:lnTo>
                  <a:pt x="0" y="105090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rot="0">
            <a:off x="1362916" y="445509"/>
            <a:ext cx="47625" cy="2260891"/>
            <a:chOff x="0" y="0"/>
            <a:chExt cx="26250" cy="1246160"/>
          </a:xfrm>
        </p:grpSpPr>
        <p:sp>
          <p:nvSpPr>
            <p:cNvPr id="11" name="Freeform 11"/>
            <p:cNvSpPr/>
            <p:nvPr/>
          </p:nvSpPr>
          <p:spPr>
            <a:xfrm>
              <a:off x="0" y="0"/>
              <a:ext cx="26250" cy="1246160"/>
            </a:xfrm>
            <a:custGeom>
              <a:avLst/>
              <a:gdLst/>
              <a:ahLst/>
              <a:cxnLst/>
              <a:rect l="l" t="t" r="r" b="b"/>
              <a:pathLst>
                <a:path w="26250" h="1246160">
                  <a:moveTo>
                    <a:pt x="0" y="0"/>
                  </a:moveTo>
                  <a:lnTo>
                    <a:pt x="26250" y="0"/>
                  </a:lnTo>
                  <a:lnTo>
                    <a:pt x="26250" y="1246160"/>
                  </a:lnTo>
                  <a:lnTo>
                    <a:pt x="0" y="1246160"/>
                  </a:lnTo>
                  <a:close/>
                </a:path>
              </a:pathLst>
            </a:custGeom>
            <a:solidFill>
              <a:srgbClr val="3A58E4"/>
            </a:solidFill>
          </p:spPr>
        </p:sp>
        <p:sp>
          <p:nvSpPr>
            <p:cNvPr id="12" name="TextBox 12"/>
            <p:cNvSpPr txBox="1"/>
            <p:nvPr/>
          </p:nvSpPr>
          <p:spPr>
            <a:xfrm>
              <a:off x="0" y="-38100"/>
              <a:ext cx="26250" cy="1284260"/>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13" name="Group 13"/>
          <p:cNvGrpSpPr/>
          <p:nvPr/>
        </p:nvGrpSpPr>
        <p:grpSpPr>
          <a:xfrm rot="0">
            <a:off x="42405" y="19050"/>
            <a:ext cx="546689" cy="3113810"/>
            <a:chOff x="0" y="0"/>
            <a:chExt cx="143984" cy="820098"/>
          </a:xfrm>
        </p:grpSpPr>
        <p:sp>
          <p:nvSpPr>
            <p:cNvPr id="14" name="Freeform 14"/>
            <p:cNvSpPr/>
            <p:nvPr/>
          </p:nvSpPr>
          <p:spPr>
            <a:xfrm>
              <a:off x="0" y="0"/>
              <a:ext cx="143984" cy="820098"/>
            </a:xfrm>
            <a:custGeom>
              <a:avLst/>
              <a:gdLst/>
              <a:ahLst/>
              <a:cxnLst/>
              <a:rect l="l" t="t" r="r" b="b"/>
              <a:pathLst>
                <a:path w="143984" h="820098">
                  <a:moveTo>
                    <a:pt x="0" y="0"/>
                  </a:moveTo>
                  <a:lnTo>
                    <a:pt x="143984" y="0"/>
                  </a:lnTo>
                  <a:lnTo>
                    <a:pt x="143984" y="820098"/>
                  </a:lnTo>
                  <a:lnTo>
                    <a:pt x="0" y="820098"/>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5" name="TextBox 15"/>
            <p:cNvSpPr txBox="1"/>
            <p:nvPr/>
          </p:nvSpPr>
          <p:spPr>
            <a:xfrm>
              <a:off x="0" y="-38100"/>
              <a:ext cx="143984" cy="858198"/>
            </a:xfrm>
            <a:prstGeom prst="rect">
              <a:avLst/>
            </a:prstGeom>
          </p:spPr>
          <p:txBody>
            <a:bodyPr lIns="50800" tIns="50800" rIns="50800" bIns="50800" rtlCol="0" anchor="ctr"/>
            <a:lstStyle/>
            <a:p>
              <a:pPr marL="0" lvl="0" indent="0" algn="ctr">
                <a:lnSpc>
                  <a:spcPts val="2660"/>
                </a:lnSpc>
                <a:spcBef>
                  <a:spcPct val="0"/>
                </a:spcBef>
              </a:pPr>
            </a:p>
          </p:txBody>
        </p:sp>
      </p:grpSp>
      <p:sp>
        <p:nvSpPr>
          <p:cNvPr id="16" name="Freeform 16"/>
          <p:cNvSpPr/>
          <p:nvPr/>
        </p:nvSpPr>
        <p:spPr>
          <a:xfrm>
            <a:off x="7854023" y="4422944"/>
            <a:ext cx="1730875" cy="1007480"/>
          </a:xfrm>
          <a:custGeom>
            <a:avLst/>
            <a:gdLst/>
            <a:ahLst/>
            <a:cxnLst/>
            <a:rect l="l" t="t" r="r" b="b"/>
            <a:pathLst>
              <a:path w="1730875" h="1007480">
                <a:moveTo>
                  <a:pt x="0" y="0"/>
                </a:moveTo>
                <a:lnTo>
                  <a:pt x="1730874" y="0"/>
                </a:lnTo>
                <a:lnTo>
                  <a:pt x="1730874" y="1007480"/>
                </a:lnTo>
                <a:lnTo>
                  <a:pt x="0" y="100748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TextBox 17"/>
          <p:cNvSpPr txBox="1"/>
          <p:nvPr/>
        </p:nvSpPr>
        <p:spPr>
          <a:xfrm>
            <a:off x="733838" y="6812395"/>
            <a:ext cx="4424610" cy="1672692"/>
          </a:xfrm>
          <a:prstGeom prst="rect">
            <a:avLst/>
          </a:prstGeom>
        </p:spPr>
        <p:txBody>
          <a:bodyPr lIns="0" tIns="0" rIns="0" bIns="0" rtlCol="0" anchor="t">
            <a:spAutoFit/>
          </a:bodyPr>
          <a:lstStyle/>
          <a:p>
            <a:pPr marL="548005" lvl="1" indent="-273685" algn="just">
              <a:lnSpc>
                <a:spcPts val="3300"/>
              </a:lnSpc>
              <a:buFont typeface="Arial" panose="020B0604020202020204"/>
              <a:buChar char="•"/>
            </a:pPr>
            <a:r>
              <a:rPr lang="en-US" sz="2535" spc="-7">
                <a:solidFill>
                  <a:srgbClr val="3A58E4"/>
                </a:solidFill>
                <a:latin typeface="Poppins" panose="00000500000000000000"/>
                <a:ea typeface="Poppins" panose="00000500000000000000"/>
                <a:cs typeface="Poppins" panose="00000500000000000000"/>
                <a:sym typeface="Poppins" panose="00000500000000000000"/>
              </a:rPr>
              <a:t>Import datasets</a:t>
            </a:r>
            <a:endParaRPr lang="en-US" sz="2535" spc="-7">
              <a:solidFill>
                <a:srgbClr val="3A58E4"/>
              </a:solidFill>
              <a:latin typeface="Poppins" panose="00000500000000000000"/>
              <a:ea typeface="Poppins" panose="00000500000000000000"/>
              <a:cs typeface="Poppins" panose="00000500000000000000"/>
              <a:sym typeface="Poppins" panose="00000500000000000000"/>
            </a:endParaRPr>
          </a:p>
          <a:p>
            <a:pPr marL="548005" lvl="1" indent="-273685" algn="just">
              <a:lnSpc>
                <a:spcPts val="3300"/>
              </a:lnSpc>
              <a:buFont typeface="Arial" panose="020B0604020202020204"/>
              <a:buChar char="•"/>
            </a:pPr>
            <a:r>
              <a:rPr lang="en-US" sz="2535" spc="-7">
                <a:solidFill>
                  <a:srgbClr val="3A58E4"/>
                </a:solidFill>
                <a:latin typeface="Poppins" panose="00000500000000000000"/>
                <a:ea typeface="Poppins" panose="00000500000000000000"/>
                <a:cs typeface="Poppins" panose="00000500000000000000"/>
                <a:sym typeface="Poppins" panose="00000500000000000000"/>
              </a:rPr>
              <a:t>Validate Costs</a:t>
            </a:r>
            <a:endParaRPr lang="en-US" sz="2535" spc="-7">
              <a:solidFill>
                <a:srgbClr val="3A58E4"/>
              </a:solidFill>
              <a:latin typeface="Poppins" panose="00000500000000000000"/>
              <a:ea typeface="Poppins" panose="00000500000000000000"/>
              <a:cs typeface="Poppins" panose="00000500000000000000"/>
              <a:sym typeface="Poppins" panose="00000500000000000000"/>
            </a:endParaRPr>
          </a:p>
          <a:p>
            <a:pPr marL="548005" lvl="1" indent="-273685" algn="just">
              <a:lnSpc>
                <a:spcPts val="3300"/>
              </a:lnSpc>
              <a:buFont typeface="Arial" panose="020B0604020202020204"/>
              <a:buChar char="•"/>
            </a:pPr>
            <a:r>
              <a:rPr lang="en-US" sz="2535" spc="-7">
                <a:solidFill>
                  <a:srgbClr val="3A58E4"/>
                </a:solidFill>
                <a:latin typeface="Poppins" panose="00000500000000000000"/>
                <a:ea typeface="Poppins" panose="00000500000000000000"/>
                <a:cs typeface="Poppins" panose="00000500000000000000"/>
                <a:sym typeface="Poppins" panose="00000500000000000000"/>
              </a:rPr>
              <a:t>Data Quality Checks</a:t>
            </a:r>
            <a:endParaRPr lang="en-US" sz="2535" spc="-7">
              <a:solidFill>
                <a:srgbClr val="3A58E4"/>
              </a:solidFill>
              <a:latin typeface="Poppins" panose="00000500000000000000"/>
              <a:ea typeface="Poppins" panose="00000500000000000000"/>
              <a:cs typeface="Poppins" panose="00000500000000000000"/>
              <a:sym typeface="Poppins" panose="00000500000000000000"/>
            </a:endParaRPr>
          </a:p>
          <a:p>
            <a:pPr marL="0" lvl="0" indent="0" algn="just">
              <a:lnSpc>
                <a:spcPts val="3300"/>
              </a:lnSpc>
            </a:pPr>
          </a:p>
        </p:txBody>
      </p:sp>
      <p:sp>
        <p:nvSpPr>
          <p:cNvPr id="18" name="TextBox 18"/>
          <p:cNvSpPr txBox="1"/>
          <p:nvPr/>
        </p:nvSpPr>
        <p:spPr>
          <a:xfrm>
            <a:off x="6520708" y="6299708"/>
            <a:ext cx="4517330" cy="2958592"/>
          </a:xfrm>
          <a:prstGeom prst="rect">
            <a:avLst/>
          </a:prstGeom>
        </p:spPr>
        <p:txBody>
          <a:bodyPr lIns="0" tIns="0" rIns="0" bIns="0" rtlCol="0" anchor="t">
            <a:spAutoFit/>
          </a:bodyPr>
          <a:lstStyle/>
          <a:p>
            <a:pPr algn="l">
              <a:lnSpc>
                <a:spcPts val="3300"/>
              </a:lnSpc>
            </a:pPr>
          </a:p>
          <a:p>
            <a:pPr marL="548640" lvl="1" indent="-274320" algn="l">
              <a:lnSpc>
                <a:spcPts val="3300"/>
              </a:lnSpc>
              <a:buFont typeface="Arial" panose="020B0604020202020204"/>
              <a:buChar char="•"/>
            </a:pPr>
            <a:r>
              <a:rPr lang="en-US" sz="2540" spc="-7">
                <a:solidFill>
                  <a:srgbClr val="3A58E4"/>
                </a:solidFill>
                <a:latin typeface="Poppins" panose="00000500000000000000"/>
                <a:ea typeface="Poppins" panose="00000500000000000000"/>
                <a:cs typeface="Poppins" panose="00000500000000000000"/>
                <a:sym typeface="Poppins" panose="00000500000000000000"/>
              </a:rPr>
              <a:t>Profitability Analysis</a:t>
            </a:r>
            <a:endParaRPr lang="en-US" sz="2540" spc="-7">
              <a:solidFill>
                <a:srgbClr val="3A58E4"/>
              </a:solidFill>
              <a:latin typeface="Poppins" panose="00000500000000000000"/>
              <a:ea typeface="Poppins" panose="00000500000000000000"/>
              <a:cs typeface="Poppins" panose="00000500000000000000"/>
              <a:sym typeface="Poppins" panose="00000500000000000000"/>
            </a:endParaRPr>
          </a:p>
          <a:p>
            <a:pPr marL="548640" lvl="1" indent="-274320" algn="l">
              <a:lnSpc>
                <a:spcPts val="3300"/>
              </a:lnSpc>
              <a:buFont typeface="Arial" panose="020B0604020202020204"/>
              <a:buChar char="•"/>
            </a:pPr>
            <a:r>
              <a:rPr lang="en-US" sz="2540" spc="-7">
                <a:solidFill>
                  <a:srgbClr val="3A58E4"/>
                </a:solidFill>
                <a:latin typeface="Poppins" panose="00000500000000000000"/>
                <a:ea typeface="Poppins" panose="00000500000000000000"/>
                <a:cs typeface="Poppins" panose="00000500000000000000"/>
                <a:sym typeface="Poppins" panose="00000500000000000000"/>
              </a:rPr>
              <a:t>Sales Channel Analysis</a:t>
            </a:r>
            <a:endParaRPr lang="en-US" sz="2540" spc="-7">
              <a:solidFill>
                <a:srgbClr val="3A58E4"/>
              </a:solidFill>
              <a:latin typeface="Poppins" panose="00000500000000000000"/>
              <a:ea typeface="Poppins" panose="00000500000000000000"/>
              <a:cs typeface="Poppins" panose="00000500000000000000"/>
              <a:sym typeface="Poppins" panose="00000500000000000000"/>
            </a:endParaRPr>
          </a:p>
          <a:p>
            <a:pPr marL="548640" lvl="1" indent="-274320" algn="l">
              <a:lnSpc>
                <a:spcPts val="3300"/>
              </a:lnSpc>
              <a:buFont typeface="Arial" panose="020B0604020202020204"/>
              <a:buChar char="•"/>
            </a:pPr>
            <a:r>
              <a:rPr lang="en-US" sz="2540" spc="-7">
                <a:solidFill>
                  <a:srgbClr val="3A58E4"/>
                </a:solidFill>
                <a:latin typeface="Poppins" panose="00000500000000000000"/>
                <a:ea typeface="Poppins" panose="00000500000000000000"/>
                <a:cs typeface="Poppins" panose="00000500000000000000"/>
                <a:sym typeface="Poppins" panose="00000500000000000000"/>
              </a:rPr>
              <a:t>Return &amp; Marketing Analysis</a:t>
            </a:r>
            <a:endParaRPr lang="en-US" sz="2540" spc="-7">
              <a:solidFill>
                <a:srgbClr val="3A58E4"/>
              </a:solidFill>
              <a:latin typeface="Poppins" panose="00000500000000000000"/>
              <a:ea typeface="Poppins" panose="00000500000000000000"/>
              <a:cs typeface="Poppins" panose="00000500000000000000"/>
              <a:sym typeface="Poppins" panose="00000500000000000000"/>
            </a:endParaRPr>
          </a:p>
          <a:p>
            <a:pPr algn="l">
              <a:lnSpc>
                <a:spcPts val="3300"/>
              </a:lnSpc>
            </a:pPr>
          </a:p>
          <a:p>
            <a:pPr marL="0" lvl="0" indent="0" algn="l">
              <a:lnSpc>
                <a:spcPts val="3300"/>
              </a:lnSpc>
            </a:pPr>
          </a:p>
        </p:txBody>
      </p:sp>
      <p:sp>
        <p:nvSpPr>
          <p:cNvPr id="19" name="TextBox 19"/>
          <p:cNvSpPr txBox="1"/>
          <p:nvPr/>
        </p:nvSpPr>
        <p:spPr>
          <a:xfrm>
            <a:off x="12338060" y="6299708"/>
            <a:ext cx="5099361" cy="2958592"/>
          </a:xfrm>
          <a:prstGeom prst="rect">
            <a:avLst/>
          </a:prstGeom>
        </p:spPr>
        <p:txBody>
          <a:bodyPr lIns="0" tIns="0" rIns="0" bIns="0" rtlCol="0" anchor="t">
            <a:spAutoFit/>
          </a:bodyPr>
          <a:lstStyle/>
          <a:p>
            <a:pPr algn="l">
              <a:lnSpc>
                <a:spcPts val="3300"/>
              </a:lnSpc>
            </a:pPr>
          </a:p>
          <a:p>
            <a:pPr marL="548640" lvl="1" indent="-274320" algn="l">
              <a:lnSpc>
                <a:spcPts val="3300"/>
              </a:lnSpc>
              <a:buFont typeface="Arial" panose="020B0604020202020204"/>
              <a:buChar char="•"/>
            </a:pPr>
            <a:r>
              <a:rPr lang="en-US" sz="2540" spc="-7">
                <a:solidFill>
                  <a:srgbClr val="3A58E4"/>
                </a:solidFill>
                <a:latin typeface="Poppins" panose="00000500000000000000"/>
                <a:ea typeface="Poppins" panose="00000500000000000000"/>
                <a:cs typeface="Poppins" panose="00000500000000000000"/>
                <a:sym typeface="Poppins" panose="00000500000000000000"/>
              </a:rPr>
              <a:t>Create DAX Measures</a:t>
            </a:r>
            <a:endParaRPr lang="en-US" sz="2540" spc="-7">
              <a:solidFill>
                <a:srgbClr val="3A58E4"/>
              </a:solidFill>
              <a:latin typeface="Poppins" panose="00000500000000000000"/>
              <a:ea typeface="Poppins" panose="00000500000000000000"/>
              <a:cs typeface="Poppins" panose="00000500000000000000"/>
              <a:sym typeface="Poppins" panose="00000500000000000000"/>
            </a:endParaRPr>
          </a:p>
          <a:p>
            <a:pPr marL="548640" lvl="1" indent="-274320" algn="l">
              <a:lnSpc>
                <a:spcPts val="3300"/>
              </a:lnSpc>
              <a:buFont typeface="Arial" panose="020B0604020202020204"/>
              <a:buChar char="•"/>
            </a:pPr>
            <a:r>
              <a:rPr lang="en-US" sz="2540" spc="-7">
                <a:solidFill>
                  <a:srgbClr val="3A58E4"/>
                </a:solidFill>
                <a:latin typeface="Poppins" panose="00000500000000000000"/>
                <a:ea typeface="Poppins" panose="00000500000000000000"/>
                <a:cs typeface="Poppins" panose="00000500000000000000"/>
                <a:sym typeface="Poppins" panose="00000500000000000000"/>
              </a:rPr>
              <a:t>Build Power BI Dashboard</a:t>
            </a:r>
            <a:endParaRPr lang="en-US" sz="2540" spc="-7">
              <a:solidFill>
                <a:srgbClr val="3A58E4"/>
              </a:solidFill>
              <a:latin typeface="Poppins" panose="00000500000000000000"/>
              <a:ea typeface="Poppins" panose="00000500000000000000"/>
              <a:cs typeface="Poppins" panose="00000500000000000000"/>
              <a:sym typeface="Poppins" panose="00000500000000000000"/>
            </a:endParaRPr>
          </a:p>
          <a:p>
            <a:pPr marL="548640" lvl="1" indent="-274320" algn="l">
              <a:lnSpc>
                <a:spcPts val="3300"/>
              </a:lnSpc>
              <a:buFont typeface="Arial" panose="020B0604020202020204"/>
              <a:buChar char="•"/>
            </a:pPr>
            <a:r>
              <a:rPr lang="en-US" sz="2540" spc="-7">
                <a:solidFill>
                  <a:srgbClr val="3A58E4"/>
                </a:solidFill>
                <a:latin typeface="Poppins" panose="00000500000000000000"/>
                <a:ea typeface="Poppins" panose="00000500000000000000"/>
                <a:cs typeface="Poppins" panose="00000500000000000000"/>
                <a:sym typeface="Poppins" panose="00000500000000000000"/>
              </a:rPr>
              <a:t>Present Insights &amp; Recommendations</a:t>
            </a:r>
            <a:endParaRPr lang="en-US" sz="2540" spc="-7">
              <a:solidFill>
                <a:srgbClr val="3A58E4"/>
              </a:solidFill>
              <a:latin typeface="Poppins" panose="00000500000000000000"/>
              <a:ea typeface="Poppins" panose="00000500000000000000"/>
              <a:cs typeface="Poppins" panose="00000500000000000000"/>
              <a:sym typeface="Poppins" panose="00000500000000000000"/>
            </a:endParaRPr>
          </a:p>
          <a:p>
            <a:pPr algn="l">
              <a:lnSpc>
                <a:spcPts val="3300"/>
              </a:lnSpc>
            </a:pPr>
          </a:p>
          <a:p>
            <a:pPr marL="0" lvl="0" indent="0" algn="l">
              <a:lnSpc>
                <a:spcPts val="3300"/>
              </a:lnSpc>
            </a:pPr>
          </a:p>
        </p:txBody>
      </p:sp>
      <p:sp>
        <p:nvSpPr>
          <p:cNvPr id="20" name="TextBox 20"/>
          <p:cNvSpPr txBox="1"/>
          <p:nvPr/>
        </p:nvSpPr>
        <p:spPr>
          <a:xfrm>
            <a:off x="1726765" y="765189"/>
            <a:ext cx="7858132" cy="1764407"/>
          </a:xfrm>
          <a:prstGeom prst="rect">
            <a:avLst/>
          </a:prstGeom>
        </p:spPr>
        <p:txBody>
          <a:bodyPr lIns="0" tIns="0" rIns="0" bIns="0" rtlCol="0" anchor="t">
            <a:spAutoFit/>
          </a:bodyPr>
          <a:lstStyle/>
          <a:p>
            <a:pPr marL="0" lvl="0" indent="0" algn="l">
              <a:lnSpc>
                <a:spcPts val="6760"/>
              </a:lnSpc>
            </a:pPr>
            <a:r>
              <a:rPr lang="en-US" sz="6900" spc="-441">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Approach &amp; Methodology</a:t>
            </a:r>
            <a:endParaRPr lang="en-US" sz="6900" spc="-441">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21" name="TextBox 21"/>
          <p:cNvSpPr txBox="1"/>
          <p:nvPr/>
        </p:nvSpPr>
        <p:spPr>
          <a:xfrm>
            <a:off x="815380" y="5680125"/>
            <a:ext cx="3438193" cy="498137"/>
          </a:xfrm>
          <a:prstGeom prst="rect">
            <a:avLst/>
          </a:prstGeom>
        </p:spPr>
        <p:txBody>
          <a:bodyPr lIns="0" tIns="0" rIns="0" bIns="0" rtlCol="0" anchor="t">
            <a:spAutoFit/>
          </a:bodyPr>
          <a:lstStyle/>
          <a:p>
            <a:pPr marL="0" lvl="0" indent="0" algn="ctr">
              <a:lnSpc>
                <a:spcPts val="4045"/>
              </a:lnSpc>
              <a:spcBef>
                <a:spcPct val="0"/>
              </a:spcBef>
            </a:pPr>
            <a:r>
              <a:rPr lang="en-US" sz="2890" b="1" spc="-184">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IMPORT &amp; EXPLORE</a:t>
            </a:r>
            <a:endParaRPr lang="en-US" sz="2890" b="1" spc="-184">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
        <p:nvSpPr>
          <p:cNvPr id="22" name="TextBox 22"/>
          <p:cNvSpPr txBox="1"/>
          <p:nvPr/>
        </p:nvSpPr>
        <p:spPr>
          <a:xfrm>
            <a:off x="7060276" y="5076825"/>
            <a:ext cx="3438193" cy="1555750"/>
          </a:xfrm>
          <a:prstGeom prst="rect">
            <a:avLst/>
          </a:prstGeom>
        </p:spPr>
        <p:txBody>
          <a:bodyPr lIns="0" tIns="0" rIns="0" bIns="0" rtlCol="0" anchor="t">
            <a:spAutoFit/>
          </a:bodyPr>
          <a:lstStyle/>
          <a:p>
            <a:pPr algn="ctr">
              <a:lnSpc>
                <a:spcPts val="4045"/>
              </a:lnSpc>
            </a:pPr>
          </a:p>
          <a:p>
            <a:pPr marL="0" lvl="0" indent="0" algn="ctr">
              <a:lnSpc>
                <a:spcPts val="4045"/>
              </a:lnSpc>
              <a:spcBef>
                <a:spcPct val="0"/>
              </a:spcBef>
            </a:pPr>
            <a:r>
              <a:rPr lang="en-US" sz="2890" b="1" spc="-184">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BUSINESS ANALYSIS</a:t>
            </a:r>
            <a:endParaRPr lang="en-US" sz="2890" b="1" spc="-184">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a:p>
            <a:pPr marL="0" lvl="0" indent="0" algn="ctr">
              <a:lnSpc>
                <a:spcPts val="4045"/>
              </a:lnSpc>
              <a:spcBef>
                <a:spcPct val="0"/>
              </a:spcBef>
            </a:pPr>
          </a:p>
        </p:txBody>
      </p:sp>
      <p:sp>
        <p:nvSpPr>
          <p:cNvPr id="23" name="TextBox 23"/>
          <p:cNvSpPr txBox="1"/>
          <p:nvPr/>
        </p:nvSpPr>
        <p:spPr>
          <a:xfrm>
            <a:off x="12516182" y="5076825"/>
            <a:ext cx="4743118" cy="1555750"/>
          </a:xfrm>
          <a:prstGeom prst="rect">
            <a:avLst/>
          </a:prstGeom>
        </p:spPr>
        <p:txBody>
          <a:bodyPr lIns="0" tIns="0" rIns="0" bIns="0" rtlCol="0" anchor="t">
            <a:spAutoFit/>
          </a:bodyPr>
          <a:lstStyle/>
          <a:p>
            <a:pPr algn="ctr">
              <a:lnSpc>
                <a:spcPts val="4045"/>
              </a:lnSpc>
            </a:pPr>
          </a:p>
          <a:p>
            <a:pPr marL="0" lvl="0" indent="0" algn="ctr">
              <a:lnSpc>
                <a:spcPts val="4045"/>
              </a:lnSpc>
            </a:pPr>
            <a:r>
              <a:rPr lang="en-US" sz="2890" b="1" spc="-184">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rPr>
              <a:t>VISUALIZATION &amp; REPORTING</a:t>
            </a:r>
            <a:endParaRPr lang="en-US" sz="2890" b="1" spc="-184">
              <a:gradFill>
                <a:gsLst>
                  <a:gs pos="0">
                    <a:srgbClr val="3A58E4">
                      <a:alpha val="100000"/>
                    </a:srgbClr>
                  </a:gs>
                  <a:gs pos="100000">
                    <a:srgbClr val="293E9C">
                      <a:alpha val="100000"/>
                    </a:srgbClr>
                  </a:gs>
                </a:gsLst>
                <a:path path="circle">
                  <a:fillToRect r="100000" b="100000"/>
                </a:path>
                <a:tileRect l="-100000" t="-100000"/>
              </a:gra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a:p>
            <a:pPr marL="0" lvl="0" indent="0" algn="ctr">
              <a:lnSpc>
                <a:spcPts val="4045"/>
              </a:lnSpc>
            </a:pPr>
          </a:p>
        </p:txBody>
      </p:sp>
      <p:sp>
        <p:nvSpPr>
          <p:cNvPr id="24" name="TextBox 18"/>
          <p:cNvSpPr txBox="1"/>
          <p:nvPr/>
        </p:nvSpPr>
        <p:spPr>
          <a:xfrm>
            <a:off x="13411200" y="419100"/>
            <a:ext cx="4517390" cy="2988945"/>
          </a:xfrm>
          <a:prstGeom prst="rect">
            <a:avLst/>
          </a:prstGeom>
        </p:spPr>
        <p:txBody>
          <a:bodyPr lIns="0" tIns="0" rIns="0" bIns="0" rtlCol="0" anchor="t">
            <a:noAutofit/>
          </a:bodyPr>
          <a:p>
            <a:pPr algn="l">
              <a:lnSpc>
                <a:spcPts val="3300"/>
              </a:lnSpc>
            </a:pPr>
            <a:endParaRPr sz="2800" b="1"/>
          </a:p>
          <a:p>
            <a:pPr marL="548640" lvl="1" indent="-274320" algn="l">
              <a:lnSpc>
                <a:spcPts val="3300"/>
              </a:lnSpc>
              <a:buFont typeface="Arial" panose="020B0604020202020204"/>
              <a:buChar char="•"/>
            </a:pPr>
            <a:r>
              <a:rPr lang="en-US" sz="2800" b="1" spc="-7">
                <a:solidFill>
                  <a:srgbClr val="3A58E4"/>
                </a:solidFill>
                <a:latin typeface="Poppins" panose="00000500000000000000"/>
                <a:ea typeface="Poppins" panose="00000500000000000000"/>
                <a:cs typeface="Poppins" panose="00000500000000000000"/>
                <a:sym typeface="Poppins" panose="00000500000000000000"/>
              </a:rPr>
              <a:t>Excel</a:t>
            </a:r>
            <a:endParaRPr lang="en-US" sz="2800" b="1" spc="-7">
              <a:solidFill>
                <a:srgbClr val="3A58E4"/>
              </a:solidFill>
              <a:latin typeface="Poppins" panose="00000500000000000000"/>
              <a:ea typeface="Poppins" panose="00000500000000000000"/>
              <a:cs typeface="Poppins" panose="00000500000000000000"/>
              <a:sym typeface="Poppins" panose="00000500000000000000"/>
            </a:endParaRPr>
          </a:p>
          <a:p>
            <a:pPr marL="548640" lvl="1" indent="-274320" algn="l">
              <a:lnSpc>
                <a:spcPts val="3300"/>
              </a:lnSpc>
              <a:buFont typeface="Arial" panose="020B0604020202020204"/>
              <a:buChar char="•"/>
            </a:pPr>
            <a:r>
              <a:rPr lang="en-US" sz="2800" b="1" spc="-7">
                <a:solidFill>
                  <a:srgbClr val="3A58E4"/>
                </a:solidFill>
                <a:latin typeface="Poppins" panose="00000500000000000000"/>
                <a:ea typeface="Poppins" panose="00000500000000000000"/>
                <a:cs typeface="Poppins" panose="00000500000000000000"/>
                <a:sym typeface="Poppins" panose="00000500000000000000"/>
              </a:rPr>
              <a:t>SQL</a:t>
            </a:r>
            <a:endParaRPr lang="en-US" sz="2800" b="1" spc="-7">
              <a:solidFill>
                <a:srgbClr val="3A58E4"/>
              </a:solidFill>
              <a:latin typeface="Poppins" panose="00000500000000000000"/>
              <a:ea typeface="Poppins" panose="00000500000000000000"/>
              <a:cs typeface="Poppins" panose="00000500000000000000"/>
              <a:sym typeface="Poppins" panose="00000500000000000000"/>
            </a:endParaRPr>
          </a:p>
          <a:p>
            <a:pPr marL="548640" lvl="1" indent="-274320" algn="l">
              <a:lnSpc>
                <a:spcPts val="3300"/>
              </a:lnSpc>
              <a:buFont typeface="Arial" panose="020B0604020202020204"/>
              <a:buChar char="•"/>
            </a:pPr>
            <a:r>
              <a:rPr lang="en-US" sz="2800" b="1" spc="-7">
                <a:solidFill>
                  <a:srgbClr val="3A58E4"/>
                </a:solidFill>
                <a:latin typeface="Poppins" panose="00000500000000000000"/>
                <a:ea typeface="Poppins" panose="00000500000000000000"/>
                <a:cs typeface="Poppins" panose="00000500000000000000"/>
                <a:sym typeface="Poppins" panose="00000500000000000000"/>
              </a:rPr>
              <a:t>Power BI</a:t>
            </a:r>
            <a:endParaRPr lang="en-US" sz="2800" b="1" spc="-7">
              <a:solidFill>
                <a:srgbClr val="3A58E4"/>
              </a:solidFill>
              <a:latin typeface="Poppins" panose="00000500000000000000"/>
              <a:ea typeface="Poppins" panose="00000500000000000000"/>
              <a:cs typeface="Poppins" panose="00000500000000000000"/>
              <a:sym typeface="Poppins" panose="00000500000000000000"/>
            </a:endParaRPr>
          </a:p>
          <a:p>
            <a:pPr marL="548640" lvl="1" indent="-274320" algn="l">
              <a:lnSpc>
                <a:spcPts val="3300"/>
              </a:lnSpc>
              <a:buFont typeface="Arial" panose="020B0604020202020204"/>
              <a:buChar char="•"/>
            </a:pPr>
            <a:r>
              <a:rPr lang="en-US" sz="2800" b="1" spc="-7">
                <a:solidFill>
                  <a:srgbClr val="3A58E4"/>
                </a:solidFill>
                <a:latin typeface="Poppins" panose="00000500000000000000"/>
                <a:ea typeface="Poppins" panose="00000500000000000000"/>
                <a:cs typeface="Poppins" panose="00000500000000000000"/>
                <a:sym typeface="Poppins" panose="00000500000000000000"/>
              </a:rPr>
              <a:t>Figma</a:t>
            </a:r>
            <a:endParaRPr lang="en-US" sz="2800" b="1" spc="-7">
              <a:solidFill>
                <a:srgbClr val="3A58E4"/>
              </a:solidFill>
              <a:latin typeface="Poppins" panose="00000500000000000000"/>
              <a:ea typeface="Poppins" panose="00000500000000000000"/>
              <a:cs typeface="Poppins" panose="00000500000000000000"/>
              <a:sym typeface="Poppins" panose="00000500000000000000"/>
            </a:endParaRPr>
          </a:p>
          <a:p>
            <a:pPr algn="l">
              <a:lnSpc>
                <a:spcPts val="3300"/>
              </a:lnSpc>
            </a:pPr>
            <a:endParaRPr sz="2800" b="1"/>
          </a:p>
          <a:p>
            <a:pPr marL="0" lvl="0" indent="0" algn="l">
              <a:lnSpc>
                <a:spcPts val="3300"/>
              </a:lnSpc>
            </a:pPr>
            <a:endParaRPr sz="28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6438046" y="163207"/>
            <a:ext cx="1849954" cy="1684960"/>
            <a:chOff x="0" y="0"/>
            <a:chExt cx="2466605" cy="2246613"/>
          </a:xfrm>
        </p:grpSpPr>
        <p:grpSp>
          <p:nvGrpSpPr>
            <p:cNvPr id="3" name="Group 3"/>
            <p:cNvGrpSpPr/>
            <p:nvPr/>
          </p:nvGrpSpPr>
          <p:grpSpPr>
            <a:xfrm rot="0">
              <a:off x="0" y="0"/>
              <a:ext cx="2466605" cy="2246613"/>
              <a:chOff x="0" y="0"/>
              <a:chExt cx="787566" cy="717324"/>
            </a:xfrm>
          </p:grpSpPr>
          <p:sp>
            <p:nvSpPr>
              <p:cNvPr id="4" name="Freeform 4"/>
              <p:cNvSpPr/>
              <p:nvPr/>
            </p:nvSpPr>
            <p:spPr>
              <a:xfrm>
                <a:off x="0" y="0"/>
                <a:ext cx="787566" cy="717324"/>
              </a:xfrm>
              <a:custGeom>
                <a:avLst/>
                <a:gdLst/>
                <a:ahLst/>
                <a:cxnLst/>
                <a:rect l="l" t="t" r="r" b="b"/>
                <a:pathLst>
                  <a:path w="787566" h="717324">
                    <a:moveTo>
                      <a:pt x="0" y="0"/>
                    </a:moveTo>
                    <a:lnTo>
                      <a:pt x="787566" y="0"/>
                    </a:lnTo>
                    <a:lnTo>
                      <a:pt x="787566" y="717324"/>
                    </a:lnTo>
                    <a:lnTo>
                      <a:pt x="0" y="717324"/>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5" name="TextBox 5"/>
              <p:cNvSpPr txBox="1"/>
              <p:nvPr/>
            </p:nvSpPr>
            <p:spPr>
              <a:xfrm>
                <a:off x="0" y="-38100"/>
                <a:ext cx="787566" cy="755424"/>
              </a:xfrm>
              <a:prstGeom prst="rect">
                <a:avLst/>
              </a:prstGeom>
            </p:spPr>
            <p:txBody>
              <a:bodyPr lIns="50800" tIns="50800" rIns="50800" bIns="50800" rtlCol="0" anchor="ctr"/>
              <a:lstStyle/>
              <a:p>
                <a:pPr marL="0" lvl="0" indent="0" algn="ctr">
                  <a:lnSpc>
                    <a:spcPts val="2660"/>
                  </a:lnSpc>
                  <a:spcBef>
                    <a:spcPct val="0"/>
                  </a:spcBef>
                </a:pPr>
              </a:p>
            </p:txBody>
          </p:sp>
        </p:grpSp>
        <p:sp>
          <p:nvSpPr>
            <p:cNvPr id="6" name="TextBox 6"/>
            <p:cNvSpPr txBox="1"/>
            <p:nvPr/>
          </p:nvSpPr>
          <p:spPr>
            <a:xfrm>
              <a:off x="319164" y="684524"/>
              <a:ext cx="1828278" cy="991865"/>
            </a:xfrm>
            <a:prstGeom prst="rect">
              <a:avLst/>
            </a:prstGeom>
          </p:spPr>
          <p:txBody>
            <a:bodyPr lIns="0" tIns="0" rIns="0" bIns="0" rtlCol="0" anchor="t">
              <a:spAutoFit/>
            </a:bodyPr>
            <a:lstStyle/>
            <a:p>
              <a:pPr marL="0" lvl="0" indent="0" algn="ctr">
                <a:lnSpc>
                  <a:spcPts val="5380"/>
                </a:lnSpc>
              </a:pPr>
              <a:r>
                <a:rPr lang="en-US" sz="5490" spc="-35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05</a:t>
              </a:r>
              <a:endParaRPr lang="en-US" sz="5490" spc="-35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7" name="Group 7"/>
          <p:cNvGrpSpPr/>
          <p:nvPr/>
        </p:nvGrpSpPr>
        <p:grpSpPr>
          <a:xfrm rot="0">
            <a:off x="1136782" y="3164184"/>
            <a:ext cx="3746706" cy="374670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9" name="TextBox 9"/>
            <p:cNvSpPr txBox="1"/>
            <p:nvPr/>
          </p:nvSpPr>
          <p:spPr>
            <a:xfrm>
              <a:off x="76200" y="38100"/>
              <a:ext cx="660400" cy="698500"/>
            </a:xfrm>
            <a:prstGeom prst="rect">
              <a:avLst/>
            </a:prstGeom>
          </p:spPr>
          <p:txBody>
            <a:bodyPr lIns="40108" tIns="40108" rIns="40108" bIns="40108" rtlCol="0" anchor="ctr"/>
            <a:lstStyle/>
            <a:p>
              <a:pPr marL="0" lvl="0" indent="0" algn="ctr">
                <a:lnSpc>
                  <a:spcPts val="2660"/>
                </a:lnSpc>
              </a:pPr>
            </a:p>
          </p:txBody>
        </p:sp>
      </p:grpSp>
      <p:grpSp>
        <p:nvGrpSpPr>
          <p:cNvPr id="10" name="Group 10"/>
          <p:cNvGrpSpPr/>
          <p:nvPr/>
        </p:nvGrpSpPr>
        <p:grpSpPr>
          <a:xfrm rot="0">
            <a:off x="5246867" y="3164184"/>
            <a:ext cx="3746706" cy="3746706"/>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a:ln cap="sq">
              <a:noFill/>
              <a:prstDash val="solid"/>
              <a:miter/>
            </a:ln>
          </p:spPr>
        </p:sp>
        <p:sp>
          <p:nvSpPr>
            <p:cNvPr id="12" name="TextBox 12"/>
            <p:cNvSpPr txBox="1"/>
            <p:nvPr/>
          </p:nvSpPr>
          <p:spPr>
            <a:xfrm>
              <a:off x="76200" y="38100"/>
              <a:ext cx="660400" cy="698500"/>
            </a:xfrm>
            <a:prstGeom prst="rect">
              <a:avLst/>
            </a:prstGeom>
          </p:spPr>
          <p:txBody>
            <a:bodyPr lIns="40108" tIns="40108" rIns="40108" bIns="40108" rtlCol="0" anchor="ctr"/>
            <a:lstStyle/>
            <a:p>
              <a:pPr marL="0" lvl="0" indent="0" algn="ctr">
                <a:lnSpc>
                  <a:spcPts val="2660"/>
                </a:lnSpc>
              </a:pPr>
            </a:p>
          </p:txBody>
        </p:sp>
      </p:grpSp>
      <p:grpSp>
        <p:nvGrpSpPr>
          <p:cNvPr id="13" name="Group 13"/>
          <p:cNvGrpSpPr/>
          <p:nvPr/>
        </p:nvGrpSpPr>
        <p:grpSpPr>
          <a:xfrm rot="0">
            <a:off x="9356951" y="3164184"/>
            <a:ext cx="3746706" cy="3746706"/>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15" name="TextBox 15"/>
            <p:cNvSpPr txBox="1"/>
            <p:nvPr/>
          </p:nvSpPr>
          <p:spPr>
            <a:xfrm>
              <a:off x="76200" y="38100"/>
              <a:ext cx="660400" cy="698500"/>
            </a:xfrm>
            <a:prstGeom prst="rect">
              <a:avLst/>
            </a:prstGeom>
          </p:spPr>
          <p:txBody>
            <a:bodyPr lIns="40108" tIns="40108" rIns="40108" bIns="40108" rtlCol="0" anchor="ctr"/>
            <a:lstStyle/>
            <a:p>
              <a:pPr marL="0" lvl="0" indent="0" algn="ctr">
                <a:lnSpc>
                  <a:spcPts val="2660"/>
                </a:lnSpc>
              </a:pPr>
            </a:p>
          </p:txBody>
        </p:sp>
      </p:grpSp>
      <p:grpSp>
        <p:nvGrpSpPr>
          <p:cNvPr id="16" name="Group 16"/>
          <p:cNvGrpSpPr/>
          <p:nvPr/>
        </p:nvGrpSpPr>
        <p:grpSpPr>
          <a:xfrm rot="0">
            <a:off x="13494182" y="3164184"/>
            <a:ext cx="3746706" cy="3746706"/>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18" name="TextBox 18"/>
            <p:cNvSpPr txBox="1"/>
            <p:nvPr/>
          </p:nvSpPr>
          <p:spPr>
            <a:xfrm>
              <a:off x="76200" y="38100"/>
              <a:ext cx="660400" cy="698500"/>
            </a:xfrm>
            <a:prstGeom prst="rect">
              <a:avLst/>
            </a:prstGeom>
          </p:spPr>
          <p:txBody>
            <a:bodyPr lIns="40108" tIns="40108" rIns="40108" bIns="40108" rtlCol="0" anchor="ctr"/>
            <a:lstStyle/>
            <a:p>
              <a:pPr marL="0" lvl="0" indent="0" algn="ctr">
                <a:lnSpc>
                  <a:spcPts val="2660"/>
                </a:lnSpc>
              </a:pPr>
            </a:p>
          </p:txBody>
        </p:sp>
      </p:grpSp>
      <p:sp>
        <p:nvSpPr>
          <p:cNvPr id="19" name="TextBox 19"/>
          <p:cNvSpPr txBox="1"/>
          <p:nvPr/>
        </p:nvSpPr>
        <p:spPr>
          <a:xfrm>
            <a:off x="2055775" y="3579042"/>
            <a:ext cx="1984104" cy="764511"/>
          </a:xfrm>
          <a:prstGeom prst="rect">
            <a:avLst/>
          </a:prstGeom>
        </p:spPr>
        <p:txBody>
          <a:bodyPr lIns="0" tIns="0" rIns="0" bIns="0" rtlCol="0" anchor="t">
            <a:spAutoFit/>
          </a:bodyPr>
          <a:lstStyle/>
          <a:p>
            <a:pPr marL="0" lvl="0" indent="0" algn="ctr">
              <a:lnSpc>
                <a:spcPts val="2940"/>
              </a:lnSpc>
            </a:pPr>
            <a:r>
              <a:rPr lang="en-US" sz="2280" b="1" spc="-6">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ANALYSIS PERIOD</a:t>
            </a:r>
            <a:endParaRPr lang="en-US" sz="2280" b="1" spc="-6">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20" name="TextBox 20"/>
          <p:cNvSpPr txBox="1"/>
          <p:nvPr/>
        </p:nvSpPr>
        <p:spPr>
          <a:xfrm>
            <a:off x="1797410" y="4758408"/>
            <a:ext cx="2425450" cy="1634698"/>
          </a:xfrm>
          <a:prstGeom prst="rect">
            <a:avLst/>
          </a:prstGeom>
        </p:spPr>
        <p:txBody>
          <a:bodyPr lIns="0" tIns="0" rIns="0" bIns="0" rtlCol="0" anchor="t">
            <a:spAutoFit/>
          </a:bodyPr>
          <a:lstStyle/>
          <a:p>
            <a:pPr marL="0" lvl="0" indent="0" algn="ctr">
              <a:lnSpc>
                <a:spcPts val="2555"/>
              </a:lnSpc>
            </a:pPr>
            <a:r>
              <a:rPr lang="en-US" sz="1980" spc="-5">
                <a:solidFill>
                  <a:srgbClr val="3A58E4"/>
                </a:solidFill>
                <a:latin typeface="Poppins" panose="00000500000000000000"/>
                <a:ea typeface="Poppins" panose="00000500000000000000"/>
                <a:cs typeface="Poppins" panose="00000500000000000000"/>
                <a:sym typeface="Poppins" panose="00000500000000000000"/>
              </a:rPr>
              <a:t>2 years of comprehensive sales and marketing data from BrightCart</a:t>
            </a:r>
            <a:endParaRPr lang="en-US" sz="1980" spc="-5">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21" name="TextBox 21"/>
          <p:cNvSpPr txBox="1"/>
          <p:nvPr/>
        </p:nvSpPr>
        <p:spPr>
          <a:xfrm>
            <a:off x="6215753" y="3685005"/>
            <a:ext cx="1984104" cy="764511"/>
          </a:xfrm>
          <a:prstGeom prst="rect">
            <a:avLst/>
          </a:prstGeom>
        </p:spPr>
        <p:txBody>
          <a:bodyPr lIns="0" tIns="0" rIns="0" bIns="0" rtlCol="0" anchor="t">
            <a:spAutoFit/>
          </a:bodyPr>
          <a:lstStyle/>
          <a:p>
            <a:pPr marL="0" lvl="0" indent="0" algn="ctr">
              <a:lnSpc>
                <a:spcPts val="2940"/>
              </a:lnSpc>
            </a:pPr>
            <a:r>
              <a:rPr lang="en-US" sz="2280" b="1" spc="-6">
                <a:solidFill>
                  <a:srgbClr val="FFFFFF"/>
                </a:solidFill>
                <a:latin typeface="Poppins Bold" panose="00000800000000000000"/>
                <a:ea typeface="Poppins Bold" panose="00000800000000000000"/>
                <a:cs typeface="Poppins Bold" panose="00000800000000000000"/>
                <a:sym typeface="Poppins Bold" panose="00000800000000000000"/>
              </a:rPr>
              <a:t>PRODUCT CATEGORIES</a:t>
            </a:r>
            <a:endParaRPr lang="en-US" sz="2280" b="1" spc="-6">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22" name="TextBox 22"/>
          <p:cNvSpPr txBox="1"/>
          <p:nvPr/>
        </p:nvSpPr>
        <p:spPr>
          <a:xfrm>
            <a:off x="6215753" y="4814370"/>
            <a:ext cx="2425450" cy="1310848"/>
          </a:xfrm>
          <a:prstGeom prst="rect">
            <a:avLst/>
          </a:prstGeom>
        </p:spPr>
        <p:txBody>
          <a:bodyPr lIns="0" tIns="0" rIns="0" bIns="0" rtlCol="0" anchor="t">
            <a:spAutoFit/>
          </a:bodyPr>
          <a:lstStyle/>
          <a:p>
            <a:pPr marL="0" lvl="0" indent="0" algn="ctr">
              <a:lnSpc>
                <a:spcPts val="2555"/>
              </a:lnSpc>
            </a:pPr>
            <a:r>
              <a:rPr lang="en-US" sz="1980" spc="-5">
                <a:solidFill>
                  <a:srgbClr val="FFFFFF"/>
                </a:solidFill>
                <a:latin typeface="Poppins" panose="00000500000000000000"/>
                <a:ea typeface="Poppins" panose="00000500000000000000"/>
                <a:cs typeface="Poppins" panose="00000500000000000000"/>
                <a:sym typeface="Poppins" panose="00000500000000000000"/>
              </a:rPr>
              <a:t>8 distinct product categories sold across all sales channels</a:t>
            </a:r>
            <a:endParaRPr lang="en-US" sz="1980" spc="-5">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3" name="TextBox 23"/>
          <p:cNvSpPr txBox="1"/>
          <p:nvPr/>
        </p:nvSpPr>
        <p:spPr>
          <a:xfrm>
            <a:off x="10052949" y="3579042"/>
            <a:ext cx="2354710" cy="764511"/>
          </a:xfrm>
          <a:prstGeom prst="rect">
            <a:avLst/>
          </a:prstGeom>
        </p:spPr>
        <p:txBody>
          <a:bodyPr lIns="0" tIns="0" rIns="0" bIns="0" rtlCol="0" anchor="t">
            <a:spAutoFit/>
          </a:bodyPr>
          <a:lstStyle/>
          <a:p>
            <a:pPr marL="0" lvl="0" indent="0" algn="ctr">
              <a:lnSpc>
                <a:spcPts val="2940"/>
              </a:lnSpc>
            </a:pPr>
            <a:r>
              <a:rPr lang="en-US" sz="2280" b="1" spc="-6">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SALES CHANNELS</a:t>
            </a:r>
            <a:endParaRPr lang="en-US" sz="2280" b="1" spc="-6">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24" name="TextBox 24"/>
          <p:cNvSpPr txBox="1"/>
          <p:nvPr/>
        </p:nvSpPr>
        <p:spPr>
          <a:xfrm>
            <a:off x="10017579" y="4865219"/>
            <a:ext cx="2425450" cy="1310848"/>
          </a:xfrm>
          <a:prstGeom prst="rect">
            <a:avLst/>
          </a:prstGeom>
        </p:spPr>
        <p:txBody>
          <a:bodyPr lIns="0" tIns="0" rIns="0" bIns="0" rtlCol="0" anchor="t">
            <a:spAutoFit/>
          </a:bodyPr>
          <a:lstStyle/>
          <a:p>
            <a:pPr marL="0" lvl="0" indent="0" algn="ctr">
              <a:lnSpc>
                <a:spcPts val="2555"/>
              </a:lnSpc>
            </a:pPr>
            <a:r>
              <a:rPr lang="en-US" sz="1980" spc="-5">
                <a:solidFill>
                  <a:srgbClr val="3A58E4"/>
                </a:solidFill>
                <a:latin typeface="Poppins" panose="00000500000000000000"/>
                <a:ea typeface="Poppins" panose="00000500000000000000"/>
                <a:cs typeface="Poppins" panose="00000500000000000000"/>
                <a:sym typeface="Poppins" panose="00000500000000000000"/>
              </a:rPr>
              <a:t>4 channels: Website, Mobile App, Marketplace, Social Commerce</a:t>
            </a:r>
            <a:endParaRPr lang="en-US" sz="1980" spc="-5">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25" name="TextBox 25"/>
          <p:cNvSpPr txBox="1"/>
          <p:nvPr/>
        </p:nvSpPr>
        <p:spPr>
          <a:xfrm>
            <a:off x="14453942" y="3796718"/>
            <a:ext cx="1984104" cy="764511"/>
          </a:xfrm>
          <a:prstGeom prst="rect">
            <a:avLst/>
          </a:prstGeom>
        </p:spPr>
        <p:txBody>
          <a:bodyPr lIns="0" tIns="0" rIns="0" bIns="0" rtlCol="0" anchor="t">
            <a:spAutoFit/>
          </a:bodyPr>
          <a:lstStyle/>
          <a:p>
            <a:pPr marL="0" lvl="0" indent="0" algn="ctr">
              <a:lnSpc>
                <a:spcPts val="2940"/>
              </a:lnSpc>
            </a:pPr>
            <a:r>
              <a:rPr lang="en-US" sz="2280" b="1" spc="-6">
                <a:solidFill>
                  <a:srgbClr val="FFFFFF"/>
                </a:solidFill>
                <a:latin typeface="Poppins Bold" panose="00000800000000000000"/>
                <a:ea typeface="Poppins Bold" panose="00000800000000000000"/>
                <a:cs typeface="Poppins Bold" panose="00000800000000000000"/>
                <a:sym typeface="Poppins Bold" panose="00000800000000000000"/>
              </a:rPr>
              <a:t>MARKETING SPEND</a:t>
            </a:r>
            <a:endParaRPr lang="en-US" sz="2280" b="1" spc="-6">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26" name="TextBox 26"/>
          <p:cNvSpPr txBox="1"/>
          <p:nvPr/>
        </p:nvSpPr>
        <p:spPr>
          <a:xfrm>
            <a:off x="14453942" y="4940276"/>
            <a:ext cx="2425450" cy="1235791"/>
          </a:xfrm>
          <a:prstGeom prst="rect">
            <a:avLst/>
          </a:prstGeom>
        </p:spPr>
        <p:txBody>
          <a:bodyPr lIns="0" tIns="0" rIns="0" bIns="0" rtlCol="0" anchor="t">
            <a:spAutoFit/>
          </a:bodyPr>
          <a:lstStyle/>
          <a:p>
            <a:pPr marL="0" lvl="0" indent="0" algn="ctr">
              <a:lnSpc>
                <a:spcPts val="2425"/>
              </a:lnSpc>
            </a:pPr>
            <a:r>
              <a:rPr lang="en-US" sz="1880" spc="-5">
                <a:solidFill>
                  <a:srgbClr val="FFFFFF"/>
                </a:solidFill>
                <a:latin typeface="Poppins" panose="00000500000000000000"/>
                <a:ea typeface="Poppins" panose="00000500000000000000"/>
                <a:cs typeface="Poppins" panose="00000500000000000000"/>
                <a:sym typeface="Poppins" panose="00000500000000000000"/>
              </a:rPr>
              <a:t>$503.51K total spend across multiple advertising platforms</a:t>
            </a:r>
            <a:endParaRPr lang="en-US" sz="1880" spc="-5">
              <a:solidFill>
                <a:srgbClr val="FFFFFF"/>
              </a:solidFill>
              <a:latin typeface="Poppins" panose="00000500000000000000"/>
              <a:ea typeface="Poppins" panose="00000500000000000000"/>
              <a:cs typeface="Poppins" panose="00000500000000000000"/>
              <a:sym typeface="Poppins" panose="00000500000000000000"/>
            </a:endParaRPr>
          </a:p>
        </p:txBody>
      </p:sp>
      <p:grpSp>
        <p:nvGrpSpPr>
          <p:cNvPr id="27" name="Group 27"/>
          <p:cNvGrpSpPr/>
          <p:nvPr/>
        </p:nvGrpSpPr>
        <p:grpSpPr>
          <a:xfrm rot="0">
            <a:off x="1302961" y="4343553"/>
            <a:ext cx="746986" cy="693984"/>
            <a:chOff x="0" y="0"/>
            <a:chExt cx="995981" cy="925312"/>
          </a:xfrm>
        </p:grpSpPr>
        <p:grpSp>
          <p:nvGrpSpPr>
            <p:cNvPr id="28" name="Group 28"/>
            <p:cNvGrpSpPr/>
            <p:nvPr/>
          </p:nvGrpSpPr>
          <p:grpSpPr>
            <a:xfrm rot="0">
              <a:off x="0" y="0"/>
              <a:ext cx="995981" cy="925312"/>
              <a:chOff x="0" y="0"/>
              <a:chExt cx="812800" cy="755129"/>
            </a:xfrm>
          </p:grpSpPr>
          <p:sp>
            <p:nvSpPr>
              <p:cNvPr id="29" name="Freeform 29"/>
              <p:cNvSpPr/>
              <p:nvPr/>
            </p:nvSpPr>
            <p:spPr>
              <a:xfrm>
                <a:off x="0" y="0"/>
                <a:ext cx="812800" cy="755129"/>
              </a:xfrm>
              <a:custGeom>
                <a:avLst/>
                <a:gdLst/>
                <a:ahLst/>
                <a:cxnLst/>
                <a:rect l="l" t="t" r="r" b="b"/>
                <a:pathLst>
                  <a:path w="812800" h="755129">
                    <a:moveTo>
                      <a:pt x="406400" y="0"/>
                    </a:moveTo>
                    <a:cubicBezTo>
                      <a:pt x="181951" y="0"/>
                      <a:pt x="0" y="169041"/>
                      <a:pt x="0" y="377564"/>
                    </a:cubicBezTo>
                    <a:cubicBezTo>
                      <a:pt x="0" y="586087"/>
                      <a:pt x="181951" y="755129"/>
                      <a:pt x="406400" y="755129"/>
                    </a:cubicBezTo>
                    <a:cubicBezTo>
                      <a:pt x="630849" y="755129"/>
                      <a:pt x="812800" y="586087"/>
                      <a:pt x="812800" y="377564"/>
                    </a:cubicBezTo>
                    <a:cubicBezTo>
                      <a:pt x="812800" y="16904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30" name="TextBox 30"/>
              <p:cNvSpPr txBox="1"/>
              <p:nvPr/>
            </p:nvSpPr>
            <p:spPr>
              <a:xfrm>
                <a:off x="76200" y="32693"/>
                <a:ext cx="660400" cy="651642"/>
              </a:xfrm>
              <a:prstGeom prst="rect">
                <a:avLst/>
              </a:prstGeom>
            </p:spPr>
            <p:txBody>
              <a:bodyPr lIns="50800" tIns="50800" rIns="50800" bIns="50800" rtlCol="0" anchor="ctr"/>
              <a:lstStyle/>
              <a:p>
                <a:pPr marL="0" lvl="0" indent="0" algn="ctr">
                  <a:lnSpc>
                    <a:spcPts val="2660"/>
                  </a:lnSpc>
                </a:pPr>
              </a:p>
            </p:txBody>
          </p:sp>
        </p:grpSp>
        <p:sp>
          <p:nvSpPr>
            <p:cNvPr id="31" name="TextBox 31"/>
            <p:cNvSpPr txBox="1"/>
            <p:nvPr/>
          </p:nvSpPr>
          <p:spPr>
            <a:xfrm>
              <a:off x="175623" y="235561"/>
              <a:ext cx="644736" cy="416090"/>
            </a:xfrm>
            <a:prstGeom prst="rect">
              <a:avLst/>
            </a:prstGeom>
          </p:spPr>
          <p:txBody>
            <a:bodyPr lIns="0" tIns="0" rIns="0" bIns="0" rtlCol="0" anchor="t">
              <a:spAutoFit/>
            </a:bodyPr>
            <a:lstStyle/>
            <a:p>
              <a:pPr marL="0" lvl="0" indent="0" algn="ctr">
                <a:lnSpc>
                  <a:spcPts val="2405"/>
                </a:lnSpc>
              </a:pPr>
              <a:r>
                <a:rPr lang="en-US" sz="1865" spc="-5">
                  <a:solidFill>
                    <a:srgbClr val="FFFFFF"/>
                  </a:solidFill>
                  <a:latin typeface="Poppins" panose="00000500000000000000"/>
                  <a:ea typeface="Poppins" panose="00000500000000000000"/>
                  <a:cs typeface="Poppins" panose="00000500000000000000"/>
                  <a:sym typeface="Poppins" panose="00000500000000000000"/>
                </a:rPr>
                <a:t>01</a:t>
              </a:r>
              <a:endParaRPr lang="en-US" sz="1865" spc="-5">
                <a:solidFill>
                  <a:srgbClr val="FFFFFF"/>
                </a:solidFill>
                <a:latin typeface="Poppins" panose="00000500000000000000"/>
                <a:ea typeface="Poppins" panose="00000500000000000000"/>
                <a:cs typeface="Poppins" panose="00000500000000000000"/>
                <a:sym typeface="Poppins" panose="00000500000000000000"/>
              </a:endParaRPr>
            </a:p>
          </p:txBody>
        </p:sp>
      </p:grpSp>
      <p:grpSp>
        <p:nvGrpSpPr>
          <p:cNvPr id="32" name="Group 32"/>
          <p:cNvGrpSpPr/>
          <p:nvPr/>
        </p:nvGrpSpPr>
        <p:grpSpPr>
          <a:xfrm rot="0">
            <a:off x="5468767" y="4449516"/>
            <a:ext cx="746986" cy="693984"/>
            <a:chOff x="0" y="0"/>
            <a:chExt cx="995981" cy="925312"/>
          </a:xfrm>
        </p:grpSpPr>
        <p:grpSp>
          <p:nvGrpSpPr>
            <p:cNvPr id="33" name="Group 33"/>
            <p:cNvGrpSpPr/>
            <p:nvPr/>
          </p:nvGrpSpPr>
          <p:grpSpPr>
            <a:xfrm rot="0">
              <a:off x="0" y="0"/>
              <a:ext cx="995981" cy="925312"/>
              <a:chOff x="0" y="0"/>
              <a:chExt cx="812800" cy="755129"/>
            </a:xfrm>
          </p:grpSpPr>
          <p:sp>
            <p:nvSpPr>
              <p:cNvPr id="34" name="Freeform 34"/>
              <p:cNvSpPr/>
              <p:nvPr/>
            </p:nvSpPr>
            <p:spPr>
              <a:xfrm>
                <a:off x="0" y="0"/>
                <a:ext cx="812800" cy="755129"/>
              </a:xfrm>
              <a:custGeom>
                <a:avLst/>
                <a:gdLst/>
                <a:ahLst/>
                <a:cxnLst/>
                <a:rect l="l" t="t" r="r" b="b"/>
                <a:pathLst>
                  <a:path w="812800" h="755129">
                    <a:moveTo>
                      <a:pt x="406400" y="0"/>
                    </a:moveTo>
                    <a:cubicBezTo>
                      <a:pt x="181951" y="0"/>
                      <a:pt x="0" y="169041"/>
                      <a:pt x="0" y="377564"/>
                    </a:cubicBezTo>
                    <a:cubicBezTo>
                      <a:pt x="0" y="586087"/>
                      <a:pt x="181951" y="755129"/>
                      <a:pt x="406400" y="755129"/>
                    </a:cubicBezTo>
                    <a:cubicBezTo>
                      <a:pt x="630849" y="755129"/>
                      <a:pt x="812800" y="586087"/>
                      <a:pt x="812800" y="377564"/>
                    </a:cubicBezTo>
                    <a:cubicBezTo>
                      <a:pt x="812800" y="169041"/>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35" name="TextBox 35"/>
              <p:cNvSpPr txBox="1"/>
              <p:nvPr/>
            </p:nvSpPr>
            <p:spPr>
              <a:xfrm>
                <a:off x="76200" y="32693"/>
                <a:ext cx="660400" cy="651642"/>
              </a:xfrm>
              <a:prstGeom prst="rect">
                <a:avLst/>
              </a:prstGeom>
            </p:spPr>
            <p:txBody>
              <a:bodyPr lIns="50800" tIns="50800" rIns="50800" bIns="50800" rtlCol="0" anchor="ctr"/>
              <a:lstStyle/>
              <a:p>
                <a:pPr marL="0" lvl="0" indent="0" algn="ctr">
                  <a:lnSpc>
                    <a:spcPts val="2660"/>
                  </a:lnSpc>
                </a:pPr>
              </a:p>
            </p:txBody>
          </p:sp>
        </p:grpSp>
        <p:sp>
          <p:nvSpPr>
            <p:cNvPr id="36" name="TextBox 36"/>
            <p:cNvSpPr txBox="1"/>
            <p:nvPr/>
          </p:nvSpPr>
          <p:spPr>
            <a:xfrm>
              <a:off x="175623" y="235561"/>
              <a:ext cx="644736" cy="416090"/>
            </a:xfrm>
            <a:prstGeom prst="rect">
              <a:avLst/>
            </a:prstGeom>
          </p:spPr>
          <p:txBody>
            <a:bodyPr lIns="0" tIns="0" rIns="0" bIns="0" rtlCol="0" anchor="t">
              <a:spAutoFit/>
            </a:bodyPr>
            <a:lstStyle/>
            <a:p>
              <a:pPr marL="0" lvl="0" indent="0" algn="ctr">
                <a:lnSpc>
                  <a:spcPts val="2405"/>
                </a:lnSpc>
              </a:pPr>
              <a:r>
                <a:rPr lang="en-US" sz="1865" spc="-5">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02</a:t>
              </a:r>
              <a:endParaRPr lang="en-US" sz="1865" spc="-5">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p:txBody>
        </p:sp>
      </p:grpSp>
      <p:grpSp>
        <p:nvGrpSpPr>
          <p:cNvPr id="37" name="Group 37"/>
          <p:cNvGrpSpPr/>
          <p:nvPr/>
        </p:nvGrpSpPr>
        <p:grpSpPr>
          <a:xfrm rot="0">
            <a:off x="9481475" y="4449516"/>
            <a:ext cx="746986" cy="693984"/>
            <a:chOff x="0" y="0"/>
            <a:chExt cx="995981" cy="925312"/>
          </a:xfrm>
        </p:grpSpPr>
        <p:grpSp>
          <p:nvGrpSpPr>
            <p:cNvPr id="38" name="Group 38"/>
            <p:cNvGrpSpPr/>
            <p:nvPr/>
          </p:nvGrpSpPr>
          <p:grpSpPr>
            <a:xfrm rot="0">
              <a:off x="0" y="0"/>
              <a:ext cx="995981" cy="925312"/>
              <a:chOff x="0" y="0"/>
              <a:chExt cx="812800" cy="755129"/>
            </a:xfrm>
          </p:grpSpPr>
          <p:sp>
            <p:nvSpPr>
              <p:cNvPr id="39" name="Freeform 39"/>
              <p:cNvSpPr/>
              <p:nvPr/>
            </p:nvSpPr>
            <p:spPr>
              <a:xfrm>
                <a:off x="0" y="0"/>
                <a:ext cx="812800" cy="755129"/>
              </a:xfrm>
              <a:custGeom>
                <a:avLst/>
                <a:gdLst/>
                <a:ahLst/>
                <a:cxnLst/>
                <a:rect l="l" t="t" r="r" b="b"/>
                <a:pathLst>
                  <a:path w="812800" h="755129">
                    <a:moveTo>
                      <a:pt x="406400" y="0"/>
                    </a:moveTo>
                    <a:cubicBezTo>
                      <a:pt x="181951" y="0"/>
                      <a:pt x="0" y="169041"/>
                      <a:pt x="0" y="377564"/>
                    </a:cubicBezTo>
                    <a:cubicBezTo>
                      <a:pt x="0" y="586087"/>
                      <a:pt x="181951" y="755129"/>
                      <a:pt x="406400" y="755129"/>
                    </a:cubicBezTo>
                    <a:cubicBezTo>
                      <a:pt x="630849" y="755129"/>
                      <a:pt x="812800" y="586087"/>
                      <a:pt x="812800" y="377564"/>
                    </a:cubicBezTo>
                    <a:cubicBezTo>
                      <a:pt x="812800" y="169041"/>
                      <a:pt x="630849" y="0"/>
                      <a:pt x="406400"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sq">
                <a:noFill/>
                <a:prstDash val="solid"/>
                <a:miter/>
              </a:ln>
            </p:spPr>
          </p:sp>
          <p:sp>
            <p:nvSpPr>
              <p:cNvPr id="40" name="TextBox 40"/>
              <p:cNvSpPr txBox="1"/>
              <p:nvPr/>
            </p:nvSpPr>
            <p:spPr>
              <a:xfrm>
                <a:off x="76200" y="32693"/>
                <a:ext cx="660400" cy="651642"/>
              </a:xfrm>
              <a:prstGeom prst="rect">
                <a:avLst/>
              </a:prstGeom>
            </p:spPr>
            <p:txBody>
              <a:bodyPr lIns="50800" tIns="50800" rIns="50800" bIns="50800" rtlCol="0" anchor="ctr"/>
              <a:lstStyle/>
              <a:p>
                <a:pPr marL="0" lvl="0" indent="0" algn="ctr">
                  <a:lnSpc>
                    <a:spcPts val="2660"/>
                  </a:lnSpc>
                </a:pPr>
              </a:p>
            </p:txBody>
          </p:sp>
        </p:grpSp>
        <p:sp>
          <p:nvSpPr>
            <p:cNvPr id="41" name="TextBox 41"/>
            <p:cNvSpPr txBox="1"/>
            <p:nvPr/>
          </p:nvSpPr>
          <p:spPr>
            <a:xfrm>
              <a:off x="175623" y="235561"/>
              <a:ext cx="644736" cy="416090"/>
            </a:xfrm>
            <a:prstGeom prst="rect">
              <a:avLst/>
            </a:prstGeom>
          </p:spPr>
          <p:txBody>
            <a:bodyPr lIns="0" tIns="0" rIns="0" bIns="0" rtlCol="0" anchor="t">
              <a:spAutoFit/>
            </a:bodyPr>
            <a:lstStyle/>
            <a:p>
              <a:pPr marL="0" lvl="0" indent="0" algn="ctr">
                <a:lnSpc>
                  <a:spcPts val="2405"/>
                </a:lnSpc>
              </a:pPr>
              <a:r>
                <a:rPr lang="en-US" sz="1865" spc="-5">
                  <a:solidFill>
                    <a:srgbClr val="FFFFFF"/>
                  </a:solidFill>
                  <a:latin typeface="Poppins" panose="00000500000000000000"/>
                  <a:ea typeface="Poppins" panose="00000500000000000000"/>
                  <a:cs typeface="Poppins" panose="00000500000000000000"/>
                  <a:sym typeface="Poppins" panose="00000500000000000000"/>
                </a:rPr>
                <a:t>03</a:t>
              </a:r>
              <a:endParaRPr lang="en-US" sz="1865" spc="-5">
                <a:solidFill>
                  <a:srgbClr val="FFFFFF"/>
                </a:solidFill>
                <a:latin typeface="Poppins" panose="00000500000000000000"/>
                <a:ea typeface="Poppins" panose="00000500000000000000"/>
                <a:cs typeface="Poppins" panose="00000500000000000000"/>
                <a:sym typeface="Poppins" panose="00000500000000000000"/>
              </a:endParaRPr>
            </a:p>
          </p:txBody>
        </p:sp>
      </p:grpSp>
      <p:grpSp>
        <p:nvGrpSpPr>
          <p:cNvPr id="42" name="Group 42"/>
          <p:cNvGrpSpPr/>
          <p:nvPr/>
        </p:nvGrpSpPr>
        <p:grpSpPr>
          <a:xfrm rot="0">
            <a:off x="13684682" y="4510983"/>
            <a:ext cx="746986" cy="693984"/>
            <a:chOff x="0" y="0"/>
            <a:chExt cx="995981" cy="925312"/>
          </a:xfrm>
        </p:grpSpPr>
        <p:grpSp>
          <p:nvGrpSpPr>
            <p:cNvPr id="43" name="Group 43"/>
            <p:cNvGrpSpPr/>
            <p:nvPr/>
          </p:nvGrpSpPr>
          <p:grpSpPr>
            <a:xfrm rot="0">
              <a:off x="0" y="0"/>
              <a:ext cx="995981" cy="925312"/>
              <a:chOff x="0" y="0"/>
              <a:chExt cx="812800" cy="755129"/>
            </a:xfrm>
          </p:grpSpPr>
          <p:sp>
            <p:nvSpPr>
              <p:cNvPr id="44" name="Freeform 44"/>
              <p:cNvSpPr/>
              <p:nvPr/>
            </p:nvSpPr>
            <p:spPr>
              <a:xfrm>
                <a:off x="0" y="0"/>
                <a:ext cx="812800" cy="755129"/>
              </a:xfrm>
              <a:custGeom>
                <a:avLst/>
                <a:gdLst/>
                <a:ahLst/>
                <a:cxnLst/>
                <a:rect l="l" t="t" r="r" b="b"/>
                <a:pathLst>
                  <a:path w="812800" h="755129">
                    <a:moveTo>
                      <a:pt x="406400" y="0"/>
                    </a:moveTo>
                    <a:cubicBezTo>
                      <a:pt x="181951" y="0"/>
                      <a:pt x="0" y="169041"/>
                      <a:pt x="0" y="377564"/>
                    </a:cubicBezTo>
                    <a:cubicBezTo>
                      <a:pt x="0" y="586087"/>
                      <a:pt x="181951" y="755129"/>
                      <a:pt x="406400" y="755129"/>
                    </a:cubicBezTo>
                    <a:cubicBezTo>
                      <a:pt x="630849" y="755129"/>
                      <a:pt x="812800" y="586087"/>
                      <a:pt x="812800" y="377564"/>
                    </a:cubicBezTo>
                    <a:cubicBezTo>
                      <a:pt x="812800" y="169041"/>
                      <a:pt x="630849" y="0"/>
                      <a:pt x="406400" y="0"/>
                    </a:cubicBezTo>
                    <a:close/>
                  </a:path>
                </a:pathLst>
              </a:custGeom>
              <a:solidFill>
                <a:srgbClr val="FFFFFF"/>
              </a:solidFill>
              <a:ln w="47625" cap="sq">
                <a:gradFill>
                  <a:gsLst>
                    <a:gs pos="0">
                      <a:srgbClr val="293E9C">
                        <a:alpha val="100000"/>
                      </a:srgbClr>
                    </a:gs>
                    <a:gs pos="100000">
                      <a:srgbClr val="3A58E4">
                        <a:alpha val="100000"/>
                      </a:srgbClr>
                    </a:gs>
                  </a:gsLst>
                  <a:path path="circle">
                    <a:fillToRect r="100000" b="100000"/>
                  </a:path>
                  <a:tileRect l="-100000" t="-100000"/>
                </a:gradFill>
                <a:prstDash val="solid"/>
                <a:miter/>
              </a:ln>
            </p:spPr>
          </p:sp>
          <p:sp>
            <p:nvSpPr>
              <p:cNvPr id="45" name="TextBox 45"/>
              <p:cNvSpPr txBox="1"/>
              <p:nvPr/>
            </p:nvSpPr>
            <p:spPr>
              <a:xfrm>
                <a:off x="76200" y="32693"/>
                <a:ext cx="660400" cy="651642"/>
              </a:xfrm>
              <a:prstGeom prst="rect">
                <a:avLst/>
              </a:prstGeom>
            </p:spPr>
            <p:txBody>
              <a:bodyPr lIns="50800" tIns="50800" rIns="50800" bIns="50800" rtlCol="0" anchor="ctr"/>
              <a:lstStyle/>
              <a:p>
                <a:pPr marL="0" lvl="0" indent="0" algn="ctr">
                  <a:lnSpc>
                    <a:spcPts val="2660"/>
                  </a:lnSpc>
                </a:pPr>
              </a:p>
            </p:txBody>
          </p:sp>
        </p:grpSp>
        <p:sp>
          <p:nvSpPr>
            <p:cNvPr id="46" name="TextBox 46"/>
            <p:cNvSpPr txBox="1"/>
            <p:nvPr/>
          </p:nvSpPr>
          <p:spPr>
            <a:xfrm>
              <a:off x="175623" y="235561"/>
              <a:ext cx="644736" cy="416090"/>
            </a:xfrm>
            <a:prstGeom prst="rect">
              <a:avLst/>
            </a:prstGeom>
          </p:spPr>
          <p:txBody>
            <a:bodyPr lIns="0" tIns="0" rIns="0" bIns="0" rtlCol="0" anchor="t">
              <a:spAutoFit/>
            </a:bodyPr>
            <a:lstStyle/>
            <a:p>
              <a:pPr marL="0" lvl="0" indent="0" algn="ctr">
                <a:lnSpc>
                  <a:spcPts val="2405"/>
                </a:lnSpc>
              </a:pPr>
              <a:r>
                <a:rPr lang="en-US" sz="1865" spc="-5">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rPr>
                <a:t>04</a:t>
              </a:r>
              <a:endParaRPr lang="en-US" sz="1865" spc="-5">
                <a:gradFill>
                  <a:gsLst>
                    <a:gs pos="0">
                      <a:srgbClr val="293E9C">
                        <a:alpha val="100000"/>
                      </a:srgbClr>
                    </a:gs>
                    <a:gs pos="100000">
                      <a:srgbClr val="3A58E4">
                        <a:alpha val="100000"/>
                      </a:srgbClr>
                    </a:gs>
                  </a:gsLst>
                  <a:path path="circle">
                    <a:fillToRect r="100000" b="100000"/>
                  </a:path>
                  <a:tileRect l="-100000" t="-100000"/>
                </a:gradFill>
                <a:latin typeface="Poppins" panose="00000500000000000000"/>
                <a:ea typeface="Poppins" panose="00000500000000000000"/>
                <a:cs typeface="Poppins" panose="00000500000000000000"/>
                <a:sym typeface="Poppins" panose="00000500000000000000"/>
              </a:endParaRPr>
            </a:p>
          </p:txBody>
        </p:sp>
      </p:grpSp>
      <p:sp>
        <p:nvSpPr>
          <p:cNvPr id="47" name="TextBox 47"/>
          <p:cNvSpPr txBox="1"/>
          <p:nvPr/>
        </p:nvSpPr>
        <p:spPr>
          <a:xfrm>
            <a:off x="3363658" y="1531339"/>
            <a:ext cx="11560683" cy="1273720"/>
          </a:xfrm>
          <a:prstGeom prst="rect">
            <a:avLst/>
          </a:prstGeom>
        </p:spPr>
        <p:txBody>
          <a:bodyPr lIns="0" tIns="0" rIns="0" bIns="0" rtlCol="0" anchor="t">
            <a:spAutoFit/>
          </a:bodyPr>
          <a:lstStyle/>
          <a:p>
            <a:pPr marL="0" lvl="0" indent="0" algn="ctr">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Data Overview</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48" name="TextBox 48"/>
          <p:cNvSpPr txBox="1"/>
          <p:nvPr/>
        </p:nvSpPr>
        <p:spPr>
          <a:xfrm>
            <a:off x="2055775" y="7891965"/>
            <a:ext cx="13610892" cy="1636228"/>
          </a:xfrm>
          <a:prstGeom prst="rect">
            <a:avLst/>
          </a:prstGeom>
        </p:spPr>
        <p:txBody>
          <a:bodyPr lIns="0" tIns="0" rIns="0" bIns="0" rtlCol="0" anchor="t">
            <a:spAutoFit/>
          </a:bodyPr>
          <a:lstStyle/>
          <a:p>
            <a:pPr marL="0" lvl="0" indent="0" algn="just">
              <a:lnSpc>
                <a:spcPts val="3265"/>
              </a:lnSpc>
            </a:pPr>
            <a:r>
              <a:rPr lang="en-US" sz="2330" spc="-6">
                <a:solidFill>
                  <a:srgbClr val="3A58E4"/>
                </a:solidFill>
                <a:latin typeface="Poppins" panose="00000500000000000000"/>
                <a:ea typeface="Poppins" panose="00000500000000000000"/>
                <a:cs typeface="Poppins" panose="00000500000000000000"/>
                <a:sym typeface="Poppins" panose="00000500000000000000"/>
              </a:rPr>
              <a:t>Our analysis examined three key datasets: order-level transactions, a product catalog with cost data for 8 categories, and monthly marketing spend totaling $503.51K across platforms. We focused on true profitability by accounting for all cost factors including shipping, returns, platform fees, and marketing spend.</a:t>
            </a:r>
            <a:endParaRPr lang="en-US" sz="2330" spc="-6">
              <a:solidFill>
                <a:srgbClr val="3A58E4"/>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6438046" y="94549"/>
            <a:ext cx="1849954" cy="1753617"/>
            <a:chOff x="0" y="0"/>
            <a:chExt cx="2466605" cy="2338156"/>
          </a:xfrm>
        </p:grpSpPr>
        <p:grpSp>
          <p:nvGrpSpPr>
            <p:cNvPr id="3" name="Group 3"/>
            <p:cNvGrpSpPr/>
            <p:nvPr/>
          </p:nvGrpSpPr>
          <p:grpSpPr>
            <a:xfrm rot="0">
              <a:off x="0" y="0"/>
              <a:ext cx="2466605" cy="2338156"/>
              <a:chOff x="0" y="0"/>
              <a:chExt cx="787566" cy="746553"/>
            </a:xfrm>
          </p:grpSpPr>
          <p:sp>
            <p:nvSpPr>
              <p:cNvPr id="4" name="Freeform 4"/>
              <p:cNvSpPr/>
              <p:nvPr/>
            </p:nvSpPr>
            <p:spPr>
              <a:xfrm>
                <a:off x="0" y="0"/>
                <a:ext cx="787566" cy="746553"/>
              </a:xfrm>
              <a:custGeom>
                <a:avLst/>
                <a:gdLst/>
                <a:ahLst/>
                <a:cxnLst/>
                <a:rect l="l" t="t" r="r" b="b"/>
                <a:pathLst>
                  <a:path w="787566" h="746553">
                    <a:moveTo>
                      <a:pt x="0" y="0"/>
                    </a:moveTo>
                    <a:lnTo>
                      <a:pt x="787566" y="0"/>
                    </a:lnTo>
                    <a:lnTo>
                      <a:pt x="787566" y="746553"/>
                    </a:lnTo>
                    <a:lnTo>
                      <a:pt x="0" y="74655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5" name="TextBox 5"/>
              <p:cNvSpPr txBox="1"/>
              <p:nvPr/>
            </p:nvSpPr>
            <p:spPr>
              <a:xfrm>
                <a:off x="0" y="-38100"/>
                <a:ext cx="787566" cy="784653"/>
              </a:xfrm>
              <a:prstGeom prst="rect">
                <a:avLst/>
              </a:prstGeom>
            </p:spPr>
            <p:txBody>
              <a:bodyPr lIns="50800" tIns="50800" rIns="50800" bIns="50800" rtlCol="0" anchor="ctr"/>
              <a:lstStyle/>
              <a:p>
                <a:pPr marL="0" lvl="0" indent="0" algn="ctr">
                  <a:lnSpc>
                    <a:spcPts val="2660"/>
                  </a:lnSpc>
                  <a:spcBef>
                    <a:spcPct val="0"/>
                  </a:spcBef>
                </a:pPr>
              </a:p>
            </p:txBody>
          </p:sp>
        </p:grpSp>
        <p:sp>
          <p:nvSpPr>
            <p:cNvPr id="6" name="TextBox 6"/>
            <p:cNvSpPr txBox="1"/>
            <p:nvPr/>
          </p:nvSpPr>
          <p:spPr>
            <a:xfrm>
              <a:off x="319164" y="684524"/>
              <a:ext cx="1828278" cy="1083408"/>
            </a:xfrm>
            <a:prstGeom prst="rect">
              <a:avLst/>
            </a:prstGeom>
          </p:spPr>
          <p:txBody>
            <a:bodyPr lIns="0" tIns="0" rIns="0" bIns="0" rtlCol="0" anchor="t">
              <a:spAutoFit/>
            </a:bodyPr>
            <a:lstStyle/>
            <a:p>
              <a:pPr marL="0" lvl="0" indent="0" algn="ctr">
                <a:lnSpc>
                  <a:spcPts val="5780"/>
                </a:lnSpc>
              </a:pPr>
              <a:r>
                <a:rPr lang="en-US" sz="5900" spc="-37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05</a:t>
              </a:r>
              <a:endParaRPr lang="en-US" sz="5900" spc="-37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7" name="Group 7"/>
          <p:cNvGrpSpPr/>
          <p:nvPr/>
        </p:nvGrpSpPr>
        <p:grpSpPr>
          <a:xfrm rot="0">
            <a:off x="5105280" y="2324060"/>
            <a:ext cx="7215109" cy="379246"/>
            <a:chOff x="0" y="0"/>
            <a:chExt cx="9620146" cy="505662"/>
          </a:xfrm>
        </p:grpSpPr>
        <p:sp>
          <p:nvSpPr>
            <p:cNvPr id="8" name="TextBox 8"/>
            <p:cNvSpPr txBox="1"/>
            <p:nvPr/>
          </p:nvSpPr>
          <p:spPr>
            <a:xfrm>
              <a:off x="0" y="25449"/>
              <a:ext cx="9403826" cy="480213"/>
            </a:xfrm>
            <a:prstGeom prst="rect">
              <a:avLst/>
            </a:prstGeom>
          </p:spPr>
          <p:txBody>
            <a:bodyPr lIns="0" tIns="0" rIns="0" bIns="0" rtlCol="0" anchor="t">
              <a:spAutoFit/>
            </a:bodyPr>
            <a:lstStyle/>
            <a:p>
              <a:pPr marL="0" lvl="0" indent="0" algn="l">
                <a:lnSpc>
                  <a:spcPts val="2985"/>
                </a:lnSpc>
              </a:pPr>
              <a:r>
                <a:rPr lang="en-US" sz="2130" b="1" spc="-53">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STEPWISE PROCESS USED FOR PROFITABILITY ANALYSIS</a:t>
              </a:r>
              <a:endParaRPr lang="en-US" sz="2130" b="1" spc="-53">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9" name="Freeform 9"/>
            <p:cNvSpPr/>
            <p:nvPr/>
          </p:nvSpPr>
          <p:spPr>
            <a:xfrm rot="-8687136">
              <a:off x="9303126"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sp>
        <p:nvSpPr>
          <p:cNvPr id="10" name="TextBox 10"/>
          <p:cNvSpPr txBox="1"/>
          <p:nvPr/>
        </p:nvSpPr>
        <p:spPr>
          <a:xfrm>
            <a:off x="3363658" y="1247968"/>
            <a:ext cx="11560683" cy="1273720"/>
          </a:xfrm>
          <a:prstGeom prst="rect">
            <a:avLst/>
          </a:prstGeom>
        </p:spPr>
        <p:txBody>
          <a:bodyPr lIns="0" tIns="0" rIns="0" bIns="0" rtlCol="0" anchor="t">
            <a:spAutoFit/>
          </a:bodyPr>
          <a:lstStyle/>
          <a:p>
            <a:pPr marL="0" lvl="0" indent="0" algn="ctr">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Project Workflow</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11" name="Group 11"/>
          <p:cNvGrpSpPr/>
          <p:nvPr/>
        </p:nvGrpSpPr>
        <p:grpSpPr>
          <a:xfrm rot="0">
            <a:off x="400743" y="3415777"/>
            <a:ext cx="4915643" cy="5842523"/>
            <a:chOff x="0" y="0"/>
            <a:chExt cx="2123451" cy="2523844"/>
          </a:xfrm>
        </p:grpSpPr>
        <p:sp>
          <p:nvSpPr>
            <p:cNvPr id="12" name="Freeform 12"/>
            <p:cNvSpPr/>
            <p:nvPr/>
          </p:nvSpPr>
          <p:spPr>
            <a:xfrm>
              <a:off x="0" y="0"/>
              <a:ext cx="2123451" cy="2523844"/>
            </a:xfrm>
            <a:custGeom>
              <a:avLst/>
              <a:gdLst/>
              <a:ahLst/>
              <a:cxnLst/>
              <a:rect l="l" t="t" r="r" b="b"/>
              <a:pathLst>
                <a:path w="2123451" h="2523844">
                  <a:moveTo>
                    <a:pt x="0" y="0"/>
                  </a:moveTo>
                  <a:lnTo>
                    <a:pt x="2123451" y="0"/>
                  </a:lnTo>
                  <a:lnTo>
                    <a:pt x="2123451" y="2523844"/>
                  </a:lnTo>
                  <a:lnTo>
                    <a:pt x="0" y="2523844"/>
                  </a:lnTo>
                  <a:close/>
                </a:path>
              </a:pathLst>
            </a:custGeom>
            <a:solidFill>
              <a:srgbClr val="2B42A8"/>
            </a:solidFill>
          </p:spPr>
        </p:sp>
        <p:sp>
          <p:nvSpPr>
            <p:cNvPr id="13" name="TextBox 13"/>
            <p:cNvSpPr txBox="1"/>
            <p:nvPr/>
          </p:nvSpPr>
          <p:spPr>
            <a:xfrm>
              <a:off x="0" y="-38100"/>
              <a:ext cx="2123451" cy="2561944"/>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14" name="Group 14"/>
          <p:cNvGrpSpPr/>
          <p:nvPr/>
        </p:nvGrpSpPr>
        <p:grpSpPr>
          <a:xfrm rot="0">
            <a:off x="5106836" y="3431508"/>
            <a:ext cx="4352775" cy="5826792"/>
            <a:chOff x="0" y="0"/>
            <a:chExt cx="1880305" cy="2517048"/>
          </a:xfrm>
        </p:grpSpPr>
        <p:sp>
          <p:nvSpPr>
            <p:cNvPr id="15" name="Freeform 15"/>
            <p:cNvSpPr/>
            <p:nvPr/>
          </p:nvSpPr>
          <p:spPr>
            <a:xfrm>
              <a:off x="0" y="0"/>
              <a:ext cx="1880305" cy="2517048"/>
            </a:xfrm>
            <a:custGeom>
              <a:avLst/>
              <a:gdLst/>
              <a:ahLst/>
              <a:cxnLst/>
              <a:rect l="l" t="t" r="r" b="b"/>
              <a:pathLst>
                <a:path w="1880305" h="2517048">
                  <a:moveTo>
                    <a:pt x="0" y="0"/>
                  </a:moveTo>
                  <a:lnTo>
                    <a:pt x="1880305" y="0"/>
                  </a:lnTo>
                  <a:lnTo>
                    <a:pt x="1880305" y="2517048"/>
                  </a:lnTo>
                  <a:lnTo>
                    <a:pt x="0" y="2517048"/>
                  </a:lnTo>
                  <a:close/>
                </a:path>
              </a:pathLst>
            </a:custGeom>
            <a:solidFill>
              <a:srgbClr val="3A58E4"/>
            </a:solidFill>
          </p:spPr>
        </p:sp>
        <p:sp>
          <p:nvSpPr>
            <p:cNvPr id="16" name="TextBox 16"/>
            <p:cNvSpPr txBox="1"/>
            <p:nvPr/>
          </p:nvSpPr>
          <p:spPr>
            <a:xfrm>
              <a:off x="0" y="-38100"/>
              <a:ext cx="1880305" cy="2555148"/>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17" name="Group 17"/>
          <p:cNvGrpSpPr/>
          <p:nvPr/>
        </p:nvGrpSpPr>
        <p:grpSpPr>
          <a:xfrm rot="0">
            <a:off x="9400231" y="3431508"/>
            <a:ext cx="4136841" cy="5826792"/>
            <a:chOff x="0" y="0"/>
            <a:chExt cx="1787026" cy="2517048"/>
          </a:xfrm>
        </p:grpSpPr>
        <p:sp>
          <p:nvSpPr>
            <p:cNvPr id="18" name="Freeform 18"/>
            <p:cNvSpPr/>
            <p:nvPr/>
          </p:nvSpPr>
          <p:spPr>
            <a:xfrm>
              <a:off x="0" y="0"/>
              <a:ext cx="1787026" cy="2517048"/>
            </a:xfrm>
            <a:custGeom>
              <a:avLst/>
              <a:gdLst/>
              <a:ahLst/>
              <a:cxnLst/>
              <a:rect l="l" t="t" r="r" b="b"/>
              <a:pathLst>
                <a:path w="1787026" h="2517048">
                  <a:moveTo>
                    <a:pt x="0" y="0"/>
                  </a:moveTo>
                  <a:lnTo>
                    <a:pt x="1787026" y="0"/>
                  </a:lnTo>
                  <a:lnTo>
                    <a:pt x="1787026" y="2517048"/>
                  </a:lnTo>
                  <a:lnTo>
                    <a:pt x="0" y="2517048"/>
                  </a:lnTo>
                  <a:close/>
                </a:path>
              </a:pathLst>
            </a:custGeom>
            <a:solidFill>
              <a:srgbClr val="6984FE"/>
            </a:solidFill>
          </p:spPr>
        </p:sp>
        <p:sp>
          <p:nvSpPr>
            <p:cNvPr id="19" name="TextBox 19"/>
            <p:cNvSpPr txBox="1"/>
            <p:nvPr/>
          </p:nvSpPr>
          <p:spPr>
            <a:xfrm>
              <a:off x="0" y="-38100"/>
              <a:ext cx="1787026" cy="2555148"/>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20" name="Group 20"/>
          <p:cNvGrpSpPr/>
          <p:nvPr/>
        </p:nvGrpSpPr>
        <p:grpSpPr>
          <a:xfrm rot="0">
            <a:off x="13537072" y="3431508"/>
            <a:ext cx="4203366" cy="5826792"/>
            <a:chOff x="0" y="0"/>
            <a:chExt cx="1815763" cy="2517048"/>
          </a:xfrm>
        </p:grpSpPr>
        <p:sp>
          <p:nvSpPr>
            <p:cNvPr id="21" name="Freeform 21"/>
            <p:cNvSpPr/>
            <p:nvPr/>
          </p:nvSpPr>
          <p:spPr>
            <a:xfrm>
              <a:off x="0" y="0"/>
              <a:ext cx="1815763" cy="2517048"/>
            </a:xfrm>
            <a:custGeom>
              <a:avLst/>
              <a:gdLst/>
              <a:ahLst/>
              <a:cxnLst/>
              <a:rect l="l" t="t" r="r" b="b"/>
              <a:pathLst>
                <a:path w="1815763" h="2517048">
                  <a:moveTo>
                    <a:pt x="0" y="0"/>
                  </a:moveTo>
                  <a:lnTo>
                    <a:pt x="1815763" y="0"/>
                  </a:lnTo>
                  <a:lnTo>
                    <a:pt x="1815763" y="2517048"/>
                  </a:lnTo>
                  <a:lnTo>
                    <a:pt x="0" y="2517048"/>
                  </a:lnTo>
                  <a:close/>
                </a:path>
              </a:pathLst>
            </a:custGeom>
            <a:solidFill>
              <a:srgbClr val="9AADFF"/>
            </a:solidFill>
          </p:spPr>
        </p:sp>
        <p:sp>
          <p:nvSpPr>
            <p:cNvPr id="22" name="TextBox 22"/>
            <p:cNvSpPr txBox="1"/>
            <p:nvPr/>
          </p:nvSpPr>
          <p:spPr>
            <a:xfrm>
              <a:off x="0" y="-38100"/>
              <a:ext cx="1815763" cy="2555148"/>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23" name="Group 23"/>
          <p:cNvGrpSpPr/>
          <p:nvPr/>
        </p:nvGrpSpPr>
        <p:grpSpPr>
          <a:xfrm rot="5400000">
            <a:off x="273826" y="4647419"/>
            <a:ext cx="622999" cy="369163"/>
            <a:chOff x="0" y="0"/>
            <a:chExt cx="1387983" cy="822564"/>
          </a:xfrm>
        </p:grpSpPr>
        <p:sp>
          <p:nvSpPr>
            <p:cNvPr id="24" name="Freeform 24"/>
            <p:cNvSpPr/>
            <p:nvPr/>
          </p:nvSpPr>
          <p:spPr>
            <a:xfrm>
              <a:off x="0" y="0"/>
              <a:ext cx="1387983" cy="821082"/>
            </a:xfrm>
            <a:custGeom>
              <a:avLst/>
              <a:gdLst/>
              <a:ahLst/>
              <a:cxnLst/>
              <a:rect l="l" t="t" r="r" b="b"/>
              <a:pathLst>
                <a:path w="1387983" h="821082">
                  <a:moveTo>
                    <a:pt x="693992" y="0"/>
                  </a:moveTo>
                  <a:lnTo>
                    <a:pt x="1387983" y="821082"/>
                  </a:lnTo>
                  <a:lnTo>
                    <a:pt x="0" y="821082"/>
                  </a:lnTo>
                  <a:close/>
                </a:path>
              </a:pathLst>
            </a:custGeom>
            <a:solidFill>
              <a:srgbClr val="AFBEFF"/>
            </a:solidFill>
          </p:spPr>
        </p:sp>
        <p:sp>
          <p:nvSpPr>
            <p:cNvPr id="25" name="TextBox 25"/>
            <p:cNvSpPr txBox="1"/>
            <p:nvPr/>
          </p:nvSpPr>
          <p:spPr>
            <a:xfrm>
              <a:off x="293871" y="309032"/>
              <a:ext cx="800241" cy="512050"/>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26" name="Group 26"/>
          <p:cNvGrpSpPr/>
          <p:nvPr/>
        </p:nvGrpSpPr>
        <p:grpSpPr>
          <a:xfrm rot="5400000">
            <a:off x="4971272" y="7721371"/>
            <a:ext cx="622999" cy="351870"/>
            <a:chOff x="0" y="0"/>
            <a:chExt cx="1387983" cy="784032"/>
          </a:xfrm>
        </p:grpSpPr>
        <p:sp>
          <p:nvSpPr>
            <p:cNvPr id="27" name="Freeform 27"/>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2B42A8"/>
            </a:solidFill>
          </p:spPr>
        </p:sp>
        <p:sp>
          <p:nvSpPr>
            <p:cNvPr id="28" name="TextBox 28"/>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29" name="Group 29"/>
          <p:cNvGrpSpPr/>
          <p:nvPr/>
        </p:nvGrpSpPr>
        <p:grpSpPr>
          <a:xfrm rot="5400000">
            <a:off x="9246980" y="4637887"/>
            <a:ext cx="704278" cy="397777"/>
            <a:chOff x="0" y="0"/>
            <a:chExt cx="1387983" cy="784032"/>
          </a:xfrm>
        </p:grpSpPr>
        <p:sp>
          <p:nvSpPr>
            <p:cNvPr id="30" name="Freeform 30"/>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3A58E4"/>
            </a:solidFill>
          </p:spPr>
        </p:sp>
        <p:sp>
          <p:nvSpPr>
            <p:cNvPr id="31" name="TextBox 31"/>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32" name="Group 32"/>
          <p:cNvGrpSpPr/>
          <p:nvPr/>
        </p:nvGrpSpPr>
        <p:grpSpPr>
          <a:xfrm rot="5400000">
            <a:off x="13274826" y="7851454"/>
            <a:ext cx="664743" cy="375447"/>
            <a:chOff x="0" y="0"/>
            <a:chExt cx="1387983" cy="784032"/>
          </a:xfrm>
        </p:grpSpPr>
        <p:sp>
          <p:nvSpPr>
            <p:cNvPr id="33" name="Freeform 33"/>
            <p:cNvSpPr/>
            <p:nvPr/>
          </p:nvSpPr>
          <p:spPr>
            <a:xfrm>
              <a:off x="0" y="0"/>
              <a:ext cx="1387983" cy="782620"/>
            </a:xfrm>
            <a:custGeom>
              <a:avLst/>
              <a:gdLst/>
              <a:ahLst/>
              <a:cxnLst/>
              <a:rect l="l" t="t" r="r" b="b"/>
              <a:pathLst>
                <a:path w="1387983" h="782620">
                  <a:moveTo>
                    <a:pt x="693992" y="0"/>
                  </a:moveTo>
                  <a:lnTo>
                    <a:pt x="1387983" y="782620"/>
                  </a:lnTo>
                  <a:lnTo>
                    <a:pt x="0" y="782620"/>
                  </a:lnTo>
                  <a:close/>
                </a:path>
              </a:pathLst>
            </a:custGeom>
            <a:solidFill>
              <a:srgbClr val="6984FE"/>
            </a:solidFill>
          </p:spPr>
        </p:sp>
        <p:sp>
          <p:nvSpPr>
            <p:cNvPr id="34" name="TextBox 34"/>
            <p:cNvSpPr txBox="1"/>
            <p:nvPr/>
          </p:nvSpPr>
          <p:spPr>
            <a:xfrm>
              <a:off x="293871" y="292771"/>
              <a:ext cx="800241" cy="489849"/>
            </a:xfrm>
            <a:prstGeom prst="rect">
              <a:avLst/>
            </a:prstGeom>
          </p:spPr>
          <p:txBody>
            <a:bodyPr lIns="33379" tIns="33379" rIns="33379" bIns="33379" rtlCol="0" anchor="ctr"/>
            <a:lstStyle/>
            <a:p>
              <a:pPr marL="0" lvl="0" indent="0" algn="ctr">
                <a:lnSpc>
                  <a:spcPts val="2660"/>
                </a:lnSpc>
                <a:spcBef>
                  <a:spcPct val="0"/>
                </a:spcBef>
              </a:pPr>
            </a:p>
          </p:txBody>
        </p:sp>
      </p:grpSp>
      <p:grpSp>
        <p:nvGrpSpPr>
          <p:cNvPr id="35" name="Group 35"/>
          <p:cNvGrpSpPr/>
          <p:nvPr/>
        </p:nvGrpSpPr>
        <p:grpSpPr>
          <a:xfrm rot="0">
            <a:off x="811459" y="4685518"/>
            <a:ext cx="4542696" cy="3021288"/>
            <a:chOff x="0" y="0"/>
            <a:chExt cx="6056928" cy="4028384"/>
          </a:xfrm>
        </p:grpSpPr>
        <p:sp>
          <p:nvSpPr>
            <p:cNvPr id="36" name="TextBox 36"/>
            <p:cNvSpPr txBox="1"/>
            <p:nvPr/>
          </p:nvSpPr>
          <p:spPr>
            <a:xfrm>
              <a:off x="597979" y="-38100"/>
              <a:ext cx="5458949" cy="427511"/>
            </a:xfrm>
            <a:prstGeom prst="rect">
              <a:avLst/>
            </a:prstGeom>
          </p:spPr>
          <p:txBody>
            <a:bodyPr lIns="0" tIns="0" rIns="0" bIns="0" rtlCol="0" anchor="t">
              <a:spAutoFit/>
            </a:bodyPr>
            <a:lstStyle/>
            <a:p>
              <a:pPr marL="0" lvl="0" indent="0" algn="l">
                <a:lnSpc>
                  <a:spcPts val="2515"/>
                </a:lnSpc>
              </a:pPr>
              <a:r>
                <a:rPr lang="en-US" sz="1950" b="1" spc="-5">
                  <a:solidFill>
                    <a:srgbClr val="FFFFFF"/>
                  </a:solidFill>
                  <a:latin typeface="Poppins Bold" panose="00000800000000000000"/>
                  <a:ea typeface="Poppins Bold" panose="00000800000000000000"/>
                  <a:cs typeface="Poppins Bold" panose="00000800000000000000"/>
                  <a:sym typeface="Poppins Bold" panose="00000800000000000000"/>
                </a:rPr>
                <a:t> DATA PREPARATION</a:t>
              </a:r>
              <a:endParaRPr lang="en-US" sz="1950" b="1" spc="-5">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37" name="TextBox 37"/>
            <p:cNvSpPr txBox="1"/>
            <p:nvPr/>
          </p:nvSpPr>
          <p:spPr>
            <a:xfrm>
              <a:off x="0" y="667256"/>
              <a:ext cx="5458949" cy="3361127"/>
            </a:xfrm>
            <a:prstGeom prst="rect">
              <a:avLst/>
            </a:prstGeom>
          </p:spPr>
          <p:txBody>
            <a:bodyPr lIns="0" tIns="0" rIns="0" bIns="0" rtlCol="0" anchor="t">
              <a:spAutoFit/>
            </a:bodyPr>
            <a:lstStyle/>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Imported the three datasets into Excel and SQL.</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Explored the data structure.</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Validated order-level costs.</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Checked for missing values, duplicates, and data inconsistencies.</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0" lvl="0" indent="0" algn="l">
                <a:lnSpc>
                  <a:spcPts val="2520"/>
                </a:lnSpc>
              </a:pPr>
            </a:p>
          </p:txBody>
        </p:sp>
      </p:grpSp>
      <p:sp>
        <p:nvSpPr>
          <p:cNvPr id="38" name="TextBox 38"/>
          <p:cNvSpPr txBox="1"/>
          <p:nvPr/>
        </p:nvSpPr>
        <p:spPr>
          <a:xfrm>
            <a:off x="3836958" y="7821106"/>
            <a:ext cx="1445813" cy="1421462"/>
          </a:xfrm>
          <a:prstGeom prst="rect">
            <a:avLst/>
          </a:prstGeom>
        </p:spPr>
        <p:txBody>
          <a:bodyPr lIns="0" tIns="0" rIns="0" bIns="0" rtlCol="0" anchor="t">
            <a:spAutoFit/>
          </a:bodyPr>
          <a:lstStyle/>
          <a:p>
            <a:pPr marL="0" lvl="0" indent="0" algn="just">
              <a:lnSpc>
                <a:spcPts val="11535"/>
              </a:lnSpc>
            </a:pPr>
            <a:r>
              <a:rPr lang="en-US" sz="8945" spc="-26">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01</a:t>
            </a:r>
            <a:endParaRPr lang="en-US" sz="8945" spc="-26">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39" name="Group 39"/>
          <p:cNvGrpSpPr/>
          <p:nvPr/>
        </p:nvGrpSpPr>
        <p:grpSpPr>
          <a:xfrm rot="0">
            <a:off x="5106836" y="4685518"/>
            <a:ext cx="4704694" cy="3649938"/>
            <a:chOff x="0" y="0"/>
            <a:chExt cx="6272925" cy="4866584"/>
          </a:xfrm>
        </p:grpSpPr>
        <p:sp>
          <p:nvSpPr>
            <p:cNvPr id="40" name="TextBox 40"/>
            <p:cNvSpPr txBox="1"/>
            <p:nvPr/>
          </p:nvSpPr>
          <p:spPr>
            <a:xfrm>
              <a:off x="1121211" y="-38100"/>
              <a:ext cx="5151714" cy="427511"/>
            </a:xfrm>
            <a:prstGeom prst="rect">
              <a:avLst/>
            </a:prstGeom>
          </p:spPr>
          <p:txBody>
            <a:bodyPr lIns="0" tIns="0" rIns="0" bIns="0" rtlCol="0" anchor="t">
              <a:spAutoFit/>
            </a:bodyPr>
            <a:lstStyle/>
            <a:p>
              <a:pPr marL="0" lvl="0" indent="0" algn="l">
                <a:lnSpc>
                  <a:spcPts val="2515"/>
                </a:lnSpc>
              </a:pPr>
              <a:r>
                <a:rPr lang="en-US" sz="1950" b="1" spc="-5">
                  <a:solidFill>
                    <a:srgbClr val="FFFFFF"/>
                  </a:solidFill>
                  <a:latin typeface="Poppins Bold" panose="00000800000000000000"/>
                  <a:ea typeface="Poppins Bold" panose="00000800000000000000"/>
                  <a:cs typeface="Poppins Bold" panose="00000800000000000000"/>
                  <a:sym typeface="Poppins Bold" panose="00000800000000000000"/>
                </a:rPr>
                <a:t> DATA ANALYSIS</a:t>
              </a:r>
              <a:endParaRPr lang="en-US" sz="1950" b="1" spc="-5">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41" name="TextBox 41"/>
            <p:cNvSpPr txBox="1"/>
            <p:nvPr/>
          </p:nvSpPr>
          <p:spPr>
            <a:xfrm>
              <a:off x="0" y="667256"/>
              <a:ext cx="5151714" cy="4199327"/>
            </a:xfrm>
            <a:prstGeom prst="rect">
              <a:avLst/>
            </a:prstGeom>
          </p:spPr>
          <p:txBody>
            <a:bodyPr lIns="0" tIns="0" rIns="0" bIns="0" rtlCol="0" anchor="t">
              <a:spAutoFit/>
            </a:bodyPr>
            <a:lstStyle/>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Performed SQL queries to analyze product profitability, sales channel performance, return rates, and marketing effectiveness.</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Identified trends, cost drivers, and key business insights.</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0" lvl="0" indent="0" algn="l">
                <a:lnSpc>
                  <a:spcPts val="2520"/>
                </a:lnSpc>
              </a:pPr>
            </a:p>
          </p:txBody>
        </p:sp>
      </p:grpSp>
      <p:sp>
        <p:nvSpPr>
          <p:cNvPr id="42" name="TextBox 42"/>
          <p:cNvSpPr txBox="1"/>
          <p:nvPr/>
        </p:nvSpPr>
        <p:spPr>
          <a:xfrm>
            <a:off x="7881062" y="3339577"/>
            <a:ext cx="1578549" cy="1421462"/>
          </a:xfrm>
          <a:prstGeom prst="rect">
            <a:avLst/>
          </a:prstGeom>
        </p:spPr>
        <p:txBody>
          <a:bodyPr lIns="0" tIns="0" rIns="0" bIns="0" rtlCol="0" anchor="t">
            <a:spAutoFit/>
          </a:bodyPr>
          <a:lstStyle/>
          <a:p>
            <a:pPr marL="0" lvl="0" indent="0" algn="just">
              <a:lnSpc>
                <a:spcPts val="11535"/>
              </a:lnSpc>
            </a:pPr>
            <a:r>
              <a:rPr lang="en-US" sz="8945" spc="-26">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02</a:t>
            </a:r>
            <a:endParaRPr lang="en-US" sz="8945" spc="-26">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43" name="Group 43"/>
          <p:cNvGrpSpPr/>
          <p:nvPr/>
        </p:nvGrpSpPr>
        <p:grpSpPr>
          <a:xfrm rot="0">
            <a:off x="9599119" y="4761039"/>
            <a:ext cx="3850227" cy="3363643"/>
            <a:chOff x="0" y="0"/>
            <a:chExt cx="5133636" cy="4484858"/>
          </a:xfrm>
        </p:grpSpPr>
        <p:sp>
          <p:nvSpPr>
            <p:cNvPr id="44" name="TextBox 44"/>
            <p:cNvSpPr txBox="1"/>
            <p:nvPr/>
          </p:nvSpPr>
          <p:spPr>
            <a:xfrm>
              <a:off x="411111" y="-38100"/>
              <a:ext cx="4722526" cy="427511"/>
            </a:xfrm>
            <a:prstGeom prst="rect">
              <a:avLst/>
            </a:prstGeom>
          </p:spPr>
          <p:txBody>
            <a:bodyPr lIns="0" tIns="0" rIns="0" bIns="0" rtlCol="0" anchor="t">
              <a:spAutoFit/>
            </a:bodyPr>
            <a:lstStyle/>
            <a:p>
              <a:pPr marL="0" lvl="0" indent="0" algn="l">
                <a:lnSpc>
                  <a:spcPts val="2515"/>
                </a:lnSpc>
              </a:pPr>
              <a:r>
                <a:rPr lang="en-US" sz="1950" b="1" spc="-5">
                  <a:solidFill>
                    <a:srgbClr val="FFFFFF"/>
                  </a:solidFill>
                  <a:latin typeface="Poppins Bold" panose="00000800000000000000"/>
                  <a:ea typeface="Poppins Bold" panose="00000800000000000000"/>
                  <a:cs typeface="Poppins Bold" panose="00000800000000000000"/>
                  <a:sym typeface="Poppins Bold" panose="00000800000000000000"/>
                </a:rPr>
                <a:t>DATA VISUALIZATION</a:t>
              </a:r>
              <a:endParaRPr lang="en-US" sz="1950" b="1" spc="-5">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45" name="TextBox 45"/>
            <p:cNvSpPr txBox="1"/>
            <p:nvPr/>
          </p:nvSpPr>
          <p:spPr>
            <a:xfrm>
              <a:off x="0" y="704630"/>
              <a:ext cx="4722526" cy="3780227"/>
            </a:xfrm>
            <a:prstGeom prst="rect">
              <a:avLst/>
            </a:prstGeom>
          </p:spPr>
          <p:txBody>
            <a:bodyPr lIns="0" tIns="0" rIns="0" bIns="0" rtlCol="0" anchor="t">
              <a:spAutoFit/>
            </a:bodyPr>
            <a:lstStyle/>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Created DAX measures and KPIs in Power BI.</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Built interactive dashboards to visualize profitability, returns, marketing performance, and sales channel metrics.</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0" lvl="0" indent="0" algn="l">
                <a:lnSpc>
                  <a:spcPts val="2520"/>
                </a:lnSpc>
              </a:pPr>
            </a:p>
          </p:txBody>
        </p:sp>
      </p:grpSp>
      <p:sp>
        <p:nvSpPr>
          <p:cNvPr id="46" name="TextBox 46"/>
          <p:cNvSpPr txBox="1"/>
          <p:nvPr/>
        </p:nvSpPr>
        <p:spPr>
          <a:xfrm>
            <a:off x="11895912" y="7821106"/>
            <a:ext cx="1711285" cy="1421462"/>
          </a:xfrm>
          <a:prstGeom prst="rect">
            <a:avLst/>
          </a:prstGeom>
        </p:spPr>
        <p:txBody>
          <a:bodyPr lIns="0" tIns="0" rIns="0" bIns="0" rtlCol="0" anchor="t">
            <a:spAutoFit/>
          </a:bodyPr>
          <a:lstStyle/>
          <a:p>
            <a:pPr marL="0" lvl="0" indent="0" algn="just">
              <a:lnSpc>
                <a:spcPts val="11535"/>
              </a:lnSpc>
            </a:pPr>
            <a:r>
              <a:rPr lang="en-US" sz="8945" spc="-26">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03</a:t>
            </a:r>
            <a:endParaRPr lang="en-US" sz="8945" spc="-26">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47" name="Group 47"/>
          <p:cNvGrpSpPr/>
          <p:nvPr/>
        </p:nvGrpSpPr>
        <p:grpSpPr>
          <a:xfrm rot="0">
            <a:off x="13882223" y="4761039"/>
            <a:ext cx="3858215" cy="4278588"/>
            <a:chOff x="0" y="0"/>
            <a:chExt cx="5144286" cy="5704784"/>
          </a:xfrm>
        </p:grpSpPr>
        <p:sp>
          <p:nvSpPr>
            <p:cNvPr id="48" name="TextBox 48"/>
            <p:cNvSpPr txBox="1"/>
            <p:nvPr/>
          </p:nvSpPr>
          <p:spPr>
            <a:xfrm>
              <a:off x="336363" y="-38100"/>
              <a:ext cx="4807923" cy="846611"/>
            </a:xfrm>
            <a:prstGeom prst="rect">
              <a:avLst/>
            </a:prstGeom>
          </p:spPr>
          <p:txBody>
            <a:bodyPr lIns="0" tIns="0" rIns="0" bIns="0" rtlCol="0" anchor="t">
              <a:spAutoFit/>
            </a:bodyPr>
            <a:lstStyle/>
            <a:p>
              <a:pPr marL="0" lvl="0" indent="0" algn="l">
                <a:lnSpc>
                  <a:spcPts val="2515"/>
                </a:lnSpc>
              </a:pPr>
              <a:r>
                <a:rPr lang="en-US" sz="1950" b="1" spc="-5">
                  <a:solidFill>
                    <a:srgbClr val="FFFFFF"/>
                  </a:solidFill>
                  <a:latin typeface="Poppins Bold" panose="00000800000000000000"/>
                  <a:ea typeface="Poppins Bold" panose="00000800000000000000"/>
                  <a:cs typeface="Poppins Bold" panose="00000800000000000000"/>
                  <a:sym typeface="Poppins Bold" panose="00000800000000000000"/>
                </a:rPr>
                <a:t> BUSINESS INSIGHTS &amp; RECOMMENDATIONS</a:t>
              </a:r>
              <a:endParaRPr lang="en-US" sz="1950" b="1" spc="-5">
                <a:solidFill>
                  <a:srgbClr val="FFFFFF"/>
                </a:solidFill>
                <a:latin typeface="Poppins Bold" panose="00000800000000000000"/>
                <a:ea typeface="Poppins Bold" panose="00000800000000000000"/>
                <a:cs typeface="Poppins Bold" panose="00000800000000000000"/>
                <a:sym typeface="Poppins Bold" panose="00000800000000000000"/>
              </a:endParaRPr>
            </a:p>
          </p:txBody>
        </p:sp>
        <p:sp>
          <p:nvSpPr>
            <p:cNvPr id="49" name="TextBox 49"/>
            <p:cNvSpPr txBox="1"/>
            <p:nvPr/>
          </p:nvSpPr>
          <p:spPr>
            <a:xfrm>
              <a:off x="0" y="1086356"/>
              <a:ext cx="4807923" cy="4618427"/>
            </a:xfrm>
            <a:prstGeom prst="rect">
              <a:avLst/>
            </a:prstGeom>
          </p:spPr>
          <p:txBody>
            <a:bodyPr lIns="0" tIns="0" rIns="0" bIns="0" rtlCol="0" anchor="t">
              <a:spAutoFit/>
            </a:bodyPr>
            <a:lstStyle/>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Interpreted the analysis results.</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Identified key factors affecting profitability.</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421640" lvl="1" indent="-210820" algn="l">
                <a:lnSpc>
                  <a:spcPts val="2520"/>
                </a:lnSpc>
                <a:buFont typeface="Arial" panose="020B0604020202020204"/>
                <a:buChar char="•"/>
              </a:pPr>
              <a:r>
                <a:rPr lang="en-US" sz="1955" spc="-5">
                  <a:solidFill>
                    <a:srgbClr val="FFFFFF"/>
                  </a:solidFill>
                  <a:latin typeface="Poppins" panose="00000500000000000000"/>
                  <a:ea typeface="Poppins" panose="00000500000000000000"/>
                  <a:cs typeface="Poppins" panose="00000500000000000000"/>
                  <a:sym typeface="Poppins" panose="00000500000000000000"/>
                </a:rPr>
                <a:t>Developed data-driven recommendations to improve business performance and optimize marketing investment.</a:t>
              </a:r>
              <a:endParaRPr lang="en-US" sz="1955" spc="-5">
                <a:solidFill>
                  <a:srgbClr val="FFFFFF"/>
                </a:solidFill>
                <a:latin typeface="Poppins" panose="00000500000000000000"/>
                <a:ea typeface="Poppins" panose="00000500000000000000"/>
                <a:cs typeface="Poppins" panose="00000500000000000000"/>
                <a:sym typeface="Poppins" panose="00000500000000000000"/>
              </a:endParaRPr>
            </a:p>
            <a:p>
              <a:pPr marL="0" lvl="0" indent="0" algn="l">
                <a:lnSpc>
                  <a:spcPts val="2520"/>
                </a:lnSpc>
              </a:pPr>
            </a:p>
          </p:txBody>
        </p:sp>
      </p:grpSp>
      <p:sp>
        <p:nvSpPr>
          <p:cNvPr id="50" name="TextBox 50"/>
          <p:cNvSpPr txBox="1"/>
          <p:nvPr/>
        </p:nvSpPr>
        <p:spPr>
          <a:xfrm>
            <a:off x="15965677" y="3463501"/>
            <a:ext cx="1578549" cy="1421462"/>
          </a:xfrm>
          <a:prstGeom prst="rect">
            <a:avLst/>
          </a:prstGeom>
        </p:spPr>
        <p:txBody>
          <a:bodyPr lIns="0" tIns="0" rIns="0" bIns="0" rtlCol="0" anchor="t">
            <a:spAutoFit/>
          </a:bodyPr>
          <a:lstStyle/>
          <a:p>
            <a:pPr marL="0" lvl="0" indent="0" algn="just">
              <a:lnSpc>
                <a:spcPts val="11535"/>
              </a:lnSpc>
            </a:pPr>
            <a:r>
              <a:rPr lang="en-US" sz="8945" spc="-26">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04</a:t>
            </a:r>
            <a:endParaRPr lang="en-US" sz="8945" spc="-26">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1028700" y="1525863"/>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Freeform 5"/>
          <p:cNvSpPr/>
          <p:nvPr/>
        </p:nvSpPr>
        <p:spPr>
          <a:xfrm rot="-8687136">
            <a:off x="4577987" y="4654787"/>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rot="0">
            <a:off x="16438046" y="216802"/>
            <a:ext cx="1849954" cy="1623795"/>
            <a:chOff x="0" y="0"/>
            <a:chExt cx="2466605" cy="2165060"/>
          </a:xfrm>
        </p:grpSpPr>
        <p:grpSp>
          <p:nvGrpSpPr>
            <p:cNvPr id="7" name="Group 7"/>
            <p:cNvGrpSpPr/>
            <p:nvPr/>
          </p:nvGrpSpPr>
          <p:grpSpPr>
            <a:xfrm rot="0">
              <a:off x="0" y="0"/>
              <a:ext cx="2466605" cy="2165060"/>
              <a:chOff x="0" y="0"/>
              <a:chExt cx="787566" cy="691285"/>
            </a:xfrm>
          </p:grpSpPr>
          <p:sp>
            <p:nvSpPr>
              <p:cNvPr id="8" name="Freeform 8"/>
              <p:cNvSpPr/>
              <p:nvPr/>
            </p:nvSpPr>
            <p:spPr>
              <a:xfrm>
                <a:off x="0" y="0"/>
                <a:ext cx="787566" cy="691285"/>
              </a:xfrm>
              <a:custGeom>
                <a:avLst/>
                <a:gdLst/>
                <a:ahLst/>
                <a:cxnLst/>
                <a:rect l="l" t="t" r="r" b="b"/>
                <a:pathLst>
                  <a:path w="787566" h="691285">
                    <a:moveTo>
                      <a:pt x="0" y="0"/>
                    </a:moveTo>
                    <a:lnTo>
                      <a:pt x="787566" y="0"/>
                    </a:lnTo>
                    <a:lnTo>
                      <a:pt x="787566" y="691285"/>
                    </a:lnTo>
                    <a:lnTo>
                      <a:pt x="0" y="691285"/>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9" name="TextBox 9"/>
              <p:cNvSpPr txBox="1"/>
              <p:nvPr/>
            </p:nvSpPr>
            <p:spPr>
              <a:xfrm>
                <a:off x="0" y="-38100"/>
                <a:ext cx="787566" cy="729385"/>
              </a:xfrm>
              <a:prstGeom prst="rect">
                <a:avLst/>
              </a:prstGeom>
            </p:spPr>
            <p:txBody>
              <a:bodyPr lIns="50800" tIns="50800" rIns="50800" bIns="50800" rtlCol="0" anchor="ctr"/>
              <a:lstStyle/>
              <a:p>
                <a:pPr marL="0" lvl="0" indent="0" algn="ctr">
                  <a:lnSpc>
                    <a:spcPts val="2660"/>
                  </a:lnSpc>
                  <a:spcBef>
                    <a:spcPct val="0"/>
                  </a:spcBef>
                </a:pPr>
              </a:p>
            </p:txBody>
          </p:sp>
        </p:grpSp>
        <p:sp>
          <p:nvSpPr>
            <p:cNvPr id="10" name="TextBox 10"/>
            <p:cNvSpPr txBox="1"/>
            <p:nvPr/>
          </p:nvSpPr>
          <p:spPr>
            <a:xfrm>
              <a:off x="319164" y="544554"/>
              <a:ext cx="1828278" cy="1199777"/>
            </a:xfrm>
            <a:prstGeom prst="rect">
              <a:avLst/>
            </a:prstGeom>
          </p:spPr>
          <p:txBody>
            <a:bodyPr lIns="0" tIns="0" rIns="0" bIns="0" rtlCol="0" anchor="t">
              <a:spAutoFit/>
            </a:bodyPr>
            <a:lstStyle/>
            <a:p>
              <a:pPr marL="0" lvl="0" indent="0" algn="ctr">
                <a:lnSpc>
                  <a:spcPts val="6420"/>
                </a:lnSpc>
              </a:pPr>
              <a:r>
                <a:rPr lang="en-US" sz="6550" spc="-419">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06</a:t>
              </a:r>
              <a:endParaRPr lang="en-US" sz="6550" spc="-419">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1" name="Freeform 11"/>
          <p:cNvSpPr/>
          <p:nvPr/>
        </p:nvSpPr>
        <p:spPr>
          <a:xfrm>
            <a:off x="9455662" y="7848788"/>
            <a:ext cx="2479908" cy="482455"/>
          </a:xfrm>
          <a:custGeom>
            <a:avLst/>
            <a:gdLst/>
            <a:ahLst/>
            <a:cxnLst/>
            <a:rect l="l" t="t" r="r" b="b"/>
            <a:pathLst>
              <a:path w="2479908" h="482455">
                <a:moveTo>
                  <a:pt x="0" y="0"/>
                </a:moveTo>
                <a:lnTo>
                  <a:pt x="2479908" y="0"/>
                </a:lnTo>
                <a:lnTo>
                  <a:pt x="2479908" y="482455"/>
                </a:lnTo>
                <a:lnTo>
                  <a:pt x="0" y="482455"/>
                </a:lnTo>
                <a:lnTo>
                  <a:pt x="0" y="0"/>
                </a:lnTo>
                <a:close/>
              </a:path>
            </a:pathLst>
          </a:custGeom>
          <a:blipFill>
            <a:blip r:embed="rId3"/>
            <a:stretch>
              <a:fillRect/>
            </a:stretch>
          </a:blipFill>
        </p:spPr>
      </p:sp>
      <p:sp>
        <p:nvSpPr>
          <p:cNvPr id="12" name="Freeform 12"/>
          <p:cNvSpPr/>
          <p:nvPr/>
        </p:nvSpPr>
        <p:spPr>
          <a:xfrm>
            <a:off x="3763719" y="6051227"/>
            <a:ext cx="11994608" cy="3904962"/>
          </a:xfrm>
          <a:custGeom>
            <a:avLst/>
            <a:gdLst/>
            <a:ahLst/>
            <a:cxnLst/>
            <a:rect l="l" t="t" r="r" b="b"/>
            <a:pathLst>
              <a:path w="11994608" h="3904962">
                <a:moveTo>
                  <a:pt x="0" y="0"/>
                </a:moveTo>
                <a:lnTo>
                  <a:pt x="11994608" y="0"/>
                </a:lnTo>
                <a:lnTo>
                  <a:pt x="11994608" y="3904961"/>
                </a:lnTo>
                <a:lnTo>
                  <a:pt x="0" y="3904961"/>
                </a:lnTo>
                <a:lnTo>
                  <a:pt x="0" y="0"/>
                </a:lnTo>
                <a:close/>
              </a:path>
            </a:pathLst>
          </a:custGeom>
          <a:blipFill>
            <a:blip r:embed="rId4"/>
            <a:stretch>
              <a:fillRect t="-1902" b="-1902"/>
            </a:stretch>
          </a:blipFill>
        </p:spPr>
      </p:sp>
      <p:sp>
        <p:nvSpPr>
          <p:cNvPr id="13" name="TextBox 13"/>
          <p:cNvSpPr txBox="1"/>
          <p:nvPr/>
        </p:nvSpPr>
        <p:spPr>
          <a:xfrm>
            <a:off x="1256766" y="1406218"/>
            <a:ext cx="5780387" cy="2489701"/>
          </a:xfrm>
          <a:prstGeom prst="rect">
            <a:avLst/>
          </a:prstGeom>
        </p:spPr>
        <p:txBody>
          <a:bodyPr lIns="0" tIns="0" rIns="0" bIns="0" rtlCol="0" anchor="t">
            <a:spAutoFit/>
          </a:bodyPr>
          <a:lstStyle/>
          <a:p>
            <a:pPr marL="0" lvl="0" indent="0" algn="l">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Category Profitability</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4" name="TextBox 14"/>
          <p:cNvSpPr txBox="1"/>
          <p:nvPr/>
        </p:nvSpPr>
        <p:spPr>
          <a:xfrm>
            <a:off x="1256766" y="3991751"/>
            <a:ext cx="14549667" cy="2095500"/>
          </a:xfrm>
          <a:prstGeom prst="rect">
            <a:avLst/>
          </a:prstGeom>
        </p:spPr>
        <p:txBody>
          <a:bodyPr lIns="0" tIns="0" rIns="0" bIns="0" rtlCol="0" anchor="t">
            <a:spAutoFit/>
          </a:bodyPr>
          <a:lstStyle/>
          <a:p>
            <a:pPr marL="0" lvl="0" indent="0" algn="l">
              <a:lnSpc>
                <a:spcPts val="4085"/>
              </a:lnSpc>
            </a:pPr>
            <a:r>
              <a:rPr lang="en-US" sz="2920" spc="-8">
                <a:solidFill>
                  <a:srgbClr val="3A58E4"/>
                </a:solidFill>
                <a:latin typeface="Poppins" panose="00000500000000000000"/>
                <a:ea typeface="Poppins" panose="00000500000000000000"/>
                <a:cs typeface="Poppins" panose="00000500000000000000"/>
                <a:sym typeface="Poppins" panose="00000500000000000000"/>
              </a:rPr>
              <a:t>Electronics achieved the highest profit margin </a:t>
            </a:r>
            <a:r>
              <a:rPr lang="en-US" sz="2920" b="1" spc="-8">
                <a:solidFill>
                  <a:srgbClr val="3A58E4"/>
                </a:solidFill>
                <a:latin typeface="Poppins Bold" panose="00000800000000000000"/>
                <a:ea typeface="Poppins Bold" panose="00000800000000000000"/>
                <a:cs typeface="Poppins Bold" panose="00000800000000000000"/>
                <a:sym typeface="Poppins Bold" panose="00000800000000000000"/>
              </a:rPr>
              <a:t>(31.1%)</a:t>
            </a:r>
            <a:r>
              <a:rPr lang="en-US" sz="2920" spc="-8">
                <a:solidFill>
                  <a:srgbClr val="3A58E4"/>
                </a:solidFill>
                <a:latin typeface="Poppins" panose="00000500000000000000"/>
                <a:ea typeface="Poppins" panose="00000500000000000000"/>
                <a:cs typeface="Poppins" panose="00000500000000000000"/>
                <a:sym typeface="Poppins" panose="00000500000000000000"/>
              </a:rPr>
              <a:t>, while Books recorded the lowest </a:t>
            </a:r>
            <a:r>
              <a:rPr lang="en-US" sz="2920" b="1" spc="-8">
                <a:solidFill>
                  <a:srgbClr val="3A58E4"/>
                </a:solidFill>
                <a:latin typeface="Poppins Bold" panose="00000800000000000000"/>
                <a:ea typeface="Poppins Bold" panose="00000800000000000000"/>
                <a:cs typeface="Poppins Bold" panose="00000800000000000000"/>
                <a:sym typeface="Poppins Bold" panose="00000800000000000000"/>
              </a:rPr>
              <a:t>(11.9%)</a:t>
            </a:r>
            <a:r>
              <a:rPr lang="en-US" sz="2920" spc="-8">
                <a:solidFill>
                  <a:srgbClr val="3A58E4"/>
                </a:solidFill>
                <a:latin typeface="Poppins" panose="00000500000000000000"/>
                <a:ea typeface="Poppins" panose="00000500000000000000"/>
                <a:cs typeface="Poppins" panose="00000500000000000000"/>
                <a:sym typeface="Poppins" panose="00000500000000000000"/>
              </a:rPr>
              <a:t>.   Shipping costs were the main factor reducing profitability in Books, whereas product costs remained relatively consistent across all categories.</a:t>
            </a:r>
            <a:endParaRPr lang="en-US" sz="2920" spc="-8">
              <a:solidFill>
                <a:srgbClr val="3A58E4"/>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914400" y="1173438"/>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TextBox 5"/>
          <p:cNvSpPr txBox="1"/>
          <p:nvPr/>
        </p:nvSpPr>
        <p:spPr>
          <a:xfrm>
            <a:off x="1028700" y="4191922"/>
            <a:ext cx="7514069" cy="854234"/>
          </a:xfrm>
          <a:prstGeom prst="rect">
            <a:avLst/>
          </a:prstGeom>
        </p:spPr>
        <p:txBody>
          <a:bodyPr lIns="0" tIns="0" rIns="0" bIns="0" rtlCol="0" anchor="t">
            <a:spAutoFit/>
          </a:bodyPr>
          <a:lstStyle/>
          <a:p>
            <a:pPr marL="0" lvl="0" indent="0" algn="just">
              <a:lnSpc>
                <a:spcPts val="3315"/>
              </a:lnSpc>
            </a:pPr>
            <a:r>
              <a:rPr lang="en-US" sz="2370" b="1" spc="-59">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COMPARATIVE ANALYSIS OF PROFIT MARGINS AND ORDER VALUE ACROSS ALL SALES CHANNELS</a:t>
            </a:r>
            <a:endParaRPr lang="en-US" sz="2370" b="1" spc="-59">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6" name="Freeform 6"/>
          <p:cNvSpPr/>
          <p:nvPr/>
        </p:nvSpPr>
        <p:spPr>
          <a:xfrm rot="-8687136">
            <a:off x="4577987" y="4654787"/>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rot="0">
            <a:off x="6692815" y="129"/>
            <a:ext cx="1849954" cy="1848037"/>
            <a:chOff x="0" y="0"/>
            <a:chExt cx="2466605" cy="2464050"/>
          </a:xfrm>
        </p:grpSpPr>
        <p:grpSp>
          <p:nvGrpSpPr>
            <p:cNvPr id="8" name="Group 8"/>
            <p:cNvGrpSpPr/>
            <p:nvPr/>
          </p:nvGrpSpPr>
          <p:grpSpPr>
            <a:xfrm rot="0">
              <a:off x="0" y="0"/>
              <a:ext cx="2466605" cy="2464050"/>
              <a:chOff x="0" y="0"/>
              <a:chExt cx="787566" cy="786750"/>
            </a:xfrm>
          </p:grpSpPr>
          <p:sp>
            <p:nvSpPr>
              <p:cNvPr id="9" name="Freeform 9"/>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0" name="TextBox 10"/>
              <p:cNvSpPr txBox="1"/>
              <p:nvPr/>
            </p:nvSpPr>
            <p:spPr>
              <a:xfrm>
                <a:off x="0" y="-38100"/>
                <a:ext cx="787566" cy="824850"/>
              </a:xfrm>
              <a:prstGeom prst="rect">
                <a:avLst/>
              </a:prstGeom>
            </p:spPr>
            <p:txBody>
              <a:bodyPr lIns="50800" tIns="50800" rIns="50800" bIns="50800" rtlCol="0" anchor="ctr"/>
              <a:lstStyle/>
              <a:p>
                <a:pPr marL="0" lvl="0" indent="0" algn="ctr">
                  <a:lnSpc>
                    <a:spcPts val="2660"/>
                  </a:lnSpc>
                  <a:spcBef>
                    <a:spcPct val="0"/>
                  </a:spcBef>
                </a:pPr>
              </a:p>
            </p:txBody>
          </p:sp>
        </p:grpSp>
        <p:sp>
          <p:nvSpPr>
            <p:cNvPr id="11" name="TextBox 11"/>
            <p:cNvSpPr txBox="1"/>
            <p:nvPr/>
          </p:nvSpPr>
          <p:spPr>
            <a:xfrm>
              <a:off x="319164" y="694049"/>
              <a:ext cx="1828278" cy="1199777"/>
            </a:xfrm>
            <a:prstGeom prst="rect">
              <a:avLst/>
            </a:prstGeom>
          </p:spPr>
          <p:txBody>
            <a:bodyPr lIns="0" tIns="0" rIns="0" bIns="0" rtlCol="0" anchor="t">
              <a:spAutoFit/>
            </a:bodyPr>
            <a:lstStyle/>
            <a:p>
              <a:pPr marL="0" lvl="0" indent="0" algn="ctr">
                <a:lnSpc>
                  <a:spcPts val="6420"/>
                </a:lnSpc>
              </a:pPr>
              <a:r>
                <a:rPr lang="en-US" sz="6550" spc="-419">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07</a:t>
              </a:r>
              <a:endParaRPr lang="en-US" sz="6550" spc="-419">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2" name="Freeform 12"/>
          <p:cNvSpPr/>
          <p:nvPr/>
        </p:nvSpPr>
        <p:spPr>
          <a:xfrm>
            <a:off x="9452333" y="3090843"/>
            <a:ext cx="8416328" cy="6167457"/>
          </a:xfrm>
          <a:custGeom>
            <a:avLst/>
            <a:gdLst/>
            <a:ahLst/>
            <a:cxnLst/>
            <a:rect l="l" t="t" r="r" b="b"/>
            <a:pathLst>
              <a:path w="8416328" h="6167457">
                <a:moveTo>
                  <a:pt x="0" y="0"/>
                </a:moveTo>
                <a:lnTo>
                  <a:pt x="8416328" y="0"/>
                </a:lnTo>
                <a:lnTo>
                  <a:pt x="8416328" y="6167457"/>
                </a:lnTo>
                <a:lnTo>
                  <a:pt x="0" y="6167457"/>
                </a:lnTo>
                <a:lnTo>
                  <a:pt x="0" y="0"/>
                </a:lnTo>
                <a:close/>
              </a:path>
            </a:pathLst>
          </a:custGeom>
          <a:blipFill>
            <a:blip r:embed="rId3"/>
            <a:stretch>
              <a:fillRect t="-3162" r="-1400" b="-697"/>
            </a:stretch>
          </a:blipFill>
        </p:spPr>
      </p:sp>
      <p:sp>
        <p:nvSpPr>
          <p:cNvPr id="13" name="TextBox 13"/>
          <p:cNvSpPr txBox="1"/>
          <p:nvPr/>
        </p:nvSpPr>
        <p:spPr>
          <a:xfrm>
            <a:off x="1142466" y="803890"/>
            <a:ext cx="5780387" cy="2037294"/>
          </a:xfrm>
          <a:prstGeom prst="rect">
            <a:avLst/>
          </a:prstGeom>
        </p:spPr>
        <p:txBody>
          <a:bodyPr lIns="0" tIns="0" rIns="0" bIns="0" rtlCol="0" anchor="t">
            <a:spAutoFit/>
          </a:bodyPr>
          <a:lstStyle/>
          <a:p>
            <a:pPr marL="0" lvl="0" indent="0" algn="l">
              <a:lnSpc>
                <a:spcPts val="7785"/>
              </a:lnSpc>
            </a:pPr>
            <a:r>
              <a:rPr lang="en-US" sz="7945" spc="-508">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Sales Channel Profitability</a:t>
            </a:r>
            <a:endParaRPr lang="en-US" sz="7945" spc="-508">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4" name="TextBox 14"/>
          <p:cNvSpPr txBox="1"/>
          <p:nvPr/>
        </p:nvSpPr>
        <p:spPr>
          <a:xfrm>
            <a:off x="1076325" y="5348211"/>
            <a:ext cx="7514069" cy="4116832"/>
          </a:xfrm>
          <a:prstGeom prst="rect">
            <a:avLst/>
          </a:prstGeom>
        </p:spPr>
        <p:txBody>
          <a:bodyPr lIns="0" tIns="0" rIns="0" bIns="0" rtlCol="0" anchor="t">
            <a:spAutoFit/>
          </a:bodyPr>
          <a:lstStyle/>
          <a:p>
            <a:pPr marL="0" lvl="0" indent="0" algn="l">
              <a:lnSpc>
                <a:spcPts val="4085"/>
              </a:lnSpc>
            </a:pPr>
            <a:r>
              <a:rPr lang="en-US" sz="2920" spc="-8">
                <a:solidFill>
                  <a:srgbClr val="3A58E4"/>
                </a:solidFill>
                <a:latin typeface="Poppins" panose="00000500000000000000"/>
                <a:ea typeface="Poppins" panose="00000500000000000000"/>
                <a:cs typeface="Poppins" panose="00000500000000000000"/>
                <a:sym typeface="Poppins" panose="00000500000000000000"/>
              </a:rPr>
              <a:t>The </a:t>
            </a:r>
            <a:r>
              <a:rPr lang="en-US" sz="2920" spc="-8">
                <a:solidFill>
                  <a:srgbClr val="3A58E4"/>
                </a:solidFill>
                <a:latin typeface="Poppins" panose="00000500000000000000"/>
                <a:ea typeface="Poppins" panose="00000500000000000000"/>
                <a:cs typeface="Poppins" panose="00000500000000000000"/>
                <a:sym typeface="Poppins" panose="00000500000000000000"/>
              </a:rPr>
              <a:t>Mobile App was the most profitable sales channel, generating an average profit of </a:t>
            </a:r>
            <a:r>
              <a:rPr lang="en-US" sz="2920" b="1" spc="-8">
                <a:solidFill>
                  <a:srgbClr val="3A58E4"/>
                </a:solidFill>
                <a:latin typeface="Poppins Bold" panose="00000800000000000000"/>
                <a:ea typeface="Poppins Bold" panose="00000800000000000000"/>
                <a:cs typeface="Poppins Bold" panose="00000800000000000000"/>
                <a:sym typeface="Poppins Bold" panose="00000800000000000000"/>
              </a:rPr>
              <a:t>36 per order with a 30% profit margin.</a:t>
            </a:r>
            <a:r>
              <a:rPr lang="en-US" sz="2920" spc="-8">
                <a:solidFill>
                  <a:srgbClr val="3A58E4"/>
                </a:solidFill>
                <a:latin typeface="Poppins" panose="00000500000000000000"/>
                <a:ea typeface="Poppins" panose="00000500000000000000"/>
                <a:cs typeface="Poppins" panose="00000500000000000000"/>
                <a:sym typeface="Poppins" panose="00000500000000000000"/>
              </a:rPr>
              <a:t> Marketplace recorded the lowest profitability </a:t>
            </a:r>
            <a:r>
              <a:rPr lang="en-US" sz="2920" b="1" spc="-8">
                <a:solidFill>
                  <a:srgbClr val="3A58E4"/>
                </a:solidFill>
                <a:latin typeface="Poppins Bold" panose="00000800000000000000"/>
                <a:ea typeface="Poppins Bold" panose="00000800000000000000"/>
                <a:cs typeface="Poppins Bold" panose="00000800000000000000"/>
                <a:sym typeface="Poppins Bold" panose="00000800000000000000"/>
              </a:rPr>
              <a:t>(15 profit per order; 13% margin),</a:t>
            </a:r>
            <a:r>
              <a:rPr lang="en-US" sz="2920" spc="-8">
                <a:solidFill>
                  <a:srgbClr val="3A58E4"/>
                </a:solidFill>
                <a:latin typeface="Poppins" panose="00000500000000000000"/>
                <a:ea typeface="Poppins" panose="00000500000000000000"/>
                <a:cs typeface="Poppins" panose="00000500000000000000"/>
                <a:sym typeface="Poppins" panose="00000500000000000000"/>
              </a:rPr>
              <a:t> mainly due to high platform fees despite having the lowest return rate.</a:t>
            </a:r>
            <a:endParaRPr lang="en-US" sz="2920" spc="-8">
              <a:solidFill>
                <a:srgbClr val="3A58E4"/>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7898159" cy="10287000"/>
            <a:chOff x="0" y="0"/>
            <a:chExt cx="2080174" cy="2709333"/>
          </a:xfrm>
        </p:grpSpPr>
        <p:sp>
          <p:nvSpPr>
            <p:cNvPr id="3" name="Freeform 3"/>
            <p:cNvSpPr/>
            <p:nvPr/>
          </p:nvSpPr>
          <p:spPr>
            <a:xfrm>
              <a:off x="0" y="0"/>
              <a:ext cx="2080174" cy="2709333"/>
            </a:xfrm>
            <a:custGeom>
              <a:avLst/>
              <a:gdLst/>
              <a:ahLst/>
              <a:cxnLst/>
              <a:rect l="l" t="t" r="r" b="b"/>
              <a:pathLst>
                <a:path w="2080174" h="2709333">
                  <a:moveTo>
                    <a:pt x="0" y="0"/>
                  </a:moveTo>
                  <a:lnTo>
                    <a:pt x="2080174" y="0"/>
                  </a:lnTo>
                  <a:lnTo>
                    <a:pt x="2080174"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2080174" cy="2747433"/>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Freeform 5"/>
          <p:cNvSpPr/>
          <p:nvPr/>
        </p:nvSpPr>
        <p:spPr>
          <a:xfrm>
            <a:off x="5343219" y="4032536"/>
            <a:ext cx="3189919" cy="620584"/>
          </a:xfrm>
          <a:custGeom>
            <a:avLst/>
            <a:gdLst/>
            <a:ahLst/>
            <a:cxnLst/>
            <a:rect l="l" t="t" r="r" b="b"/>
            <a:pathLst>
              <a:path w="3189919" h="620584">
                <a:moveTo>
                  <a:pt x="0" y="0"/>
                </a:moveTo>
                <a:lnTo>
                  <a:pt x="3189919" y="0"/>
                </a:lnTo>
                <a:lnTo>
                  <a:pt x="3189919" y="620584"/>
                </a:lnTo>
                <a:lnTo>
                  <a:pt x="0" y="620584"/>
                </a:lnTo>
                <a:lnTo>
                  <a:pt x="0" y="0"/>
                </a:lnTo>
                <a:close/>
              </a:path>
            </a:pathLst>
          </a:custGeom>
          <a:blipFill>
            <a:blip r:embed="rId1"/>
            <a:stretch>
              <a:fillRect/>
            </a:stretch>
          </a:blipFill>
        </p:spPr>
      </p:sp>
      <p:grpSp>
        <p:nvGrpSpPr>
          <p:cNvPr id="6" name="Group 6"/>
          <p:cNvGrpSpPr/>
          <p:nvPr/>
        </p:nvGrpSpPr>
        <p:grpSpPr>
          <a:xfrm rot="0">
            <a:off x="5459316" y="1438329"/>
            <a:ext cx="2920486" cy="2916826"/>
            <a:chOff x="0" y="0"/>
            <a:chExt cx="567580" cy="566868"/>
          </a:xfrm>
        </p:grpSpPr>
        <p:sp>
          <p:nvSpPr>
            <p:cNvPr id="7" name="Freeform 7"/>
            <p:cNvSpPr/>
            <p:nvPr/>
          </p:nvSpPr>
          <p:spPr>
            <a:xfrm>
              <a:off x="0" y="0"/>
              <a:ext cx="567580" cy="566868"/>
            </a:xfrm>
            <a:custGeom>
              <a:avLst/>
              <a:gdLst/>
              <a:ahLst/>
              <a:cxnLst/>
              <a:rect l="l" t="t" r="r" b="b"/>
              <a:pathLst>
                <a:path w="567580" h="566868">
                  <a:moveTo>
                    <a:pt x="119291" y="0"/>
                  </a:moveTo>
                  <a:lnTo>
                    <a:pt x="448289" y="0"/>
                  </a:lnTo>
                  <a:cubicBezTo>
                    <a:pt x="514171" y="0"/>
                    <a:pt x="567580" y="53408"/>
                    <a:pt x="567580" y="119291"/>
                  </a:cubicBezTo>
                  <a:lnTo>
                    <a:pt x="567580" y="447578"/>
                  </a:lnTo>
                  <a:cubicBezTo>
                    <a:pt x="567580" y="479216"/>
                    <a:pt x="555012" y="509558"/>
                    <a:pt x="532640" y="531929"/>
                  </a:cubicBezTo>
                  <a:cubicBezTo>
                    <a:pt x="510269" y="554300"/>
                    <a:pt x="479927" y="566868"/>
                    <a:pt x="448289" y="566868"/>
                  </a:cubicBezTo>
                  <a:lnTo>
                    <a:pt x="119291" y="566868"/>
                  </a:lnTo>
                  <a:cubicBezTo>
                    <a:pt x="87653" y="566868"/>
                    <a:pt x="57311" y="554300"/>
                    <a:pt x="34939" y="531929"/>
                  </a:cubicBezTo>
                  <a:cubicBezTo>
                    <a:pt x="12568" y="509558"/>
                    <a:pt x="0" y="479216"/>
                    <a:pt x="0" y="447578"/>
                  </a:cubicBezTo>
                  <a:lnTo>
                    <a:pt x="0" y="119291"/>
                  </a:lnTo>
                  <a:cubicBezTo>
                    <a:pt x="0" y="53408"/>
                    <a:pt x="53408" y="0"/>
                    <a:pt x="119291"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8" name="TextBox 8"/>
            <p:cNvSpPr txBox="1"/>
            <p:nvPr/>
          </p:nvSpPr>
          <p:spPr>
            <a:xfrm>
              <a:off x="0" y="28575"/>
              <a:ext cx="567580" cy="538293"/>
            </a:xfrm>
            <a:prstGeom prst="rect">
              <a:avLst/>
            </a:prstGeom>
          </p:spPr>
          <p:txBody>
            <a:bodyPr lIns="65745" tIns="65745" rIns="65745" bIns="65745" rtlCol="0" anchor="ctr"/>
            <a:lstStyle/>
            <a:p>
              <a:pPr marL="0" lvl="0" indent="0" algn="ctr">
                <a:lnSpc>
                  <a:spcPts val="2460"/>
                </a:lnSpc>
              </a:pPr>
            </a:p>
          </p:txBody>
        </p:sp>
      </p:grpSp>
      <p:sp>
        <p:nvSpPr>
          <p:cNvPr id="9" name="Freeform 9"/>
          <p:cNvSpPr/>
          <p:nvPr/>
        </p:nvSpPr>
        <p:spPr>
          <a:xfrm>
            <a:off x="658315" y="3269773"/>
            <a:ext cx="1862950" cy="1383347"/>
          </a:xfrm>
          <a:custGeom>
            <a:avLst/>
            <a:gdLst/>
            <a:ahLst/>
            <a:cxnLst/>
            <a:rect l="l" t="t" r="r" b="b"/>
            <a:pathLst>
              <a:path w="1862950" h="1383347">
                <a:moveTo>
                  <a:pt x="0" y="0"/>
                </a:moveTo>
                <a:lnTo>
                  <a:pt x="1862951" y="0"/>
                </a:lnTo>
                <a:lnTo>
                  <a:pt x="1862951" y="1383347"/>
                </a:lnTo>
                <a:lnTo>
                  <a:pt x="0" y="1383347"/>
                </a:lnTo>
                <a:lnTo>
                  <a:pt x="0" y="0"/>
                </a:lnTo>
                <a:close/>
              </a:path>
            </a:pathLst>
          </a:custGeom>
          <a:blipFill>
            <a:blip r:embed="rId2"/>
            <a:stretch>
              <a:fillRect/>
            </a:stretch>
          </a:blipFill>
        </p:spPr>
      </p:sp>
      <p:grpSp>
        <p:nvGrpSpPr>
          <p:cNvPr id="10" name="Group 10"/>
          <p:cNvGrpSpPr/>
          <p:nvPr/>
        </p:nvGrpSpPr>
        <p:grpSpPr>
          <a:xfrm rot="0">
            <a:off x="1028700" y="1196251"/>
            <a:ext cx="48128" cy="1700491"/>
            <a:chOff x="0" y="0"/>
            <a:chExt cx="24919" cy="880458"/>
          </a:xfrm>
        </p:grpSpPr>
        <p:sp>
          <p:nvSpPr>
            <p:cNvPr id="11" name="Freeform 11"/>
            <p:cNvSpPr/>
            <p:nvPr/>
          </p:nvSpPr>
          <p:spPr>
            <a:xfrm>
              <a:off x="0" y="0"/>
              <a:ext cx="24919" cy="880458"/>
            </a:xfrm>
            <a:custGeom>
              <a:avLst/>
              <a:gdLst/>
              <a:ahLst/>
              <a:cxnLst/>
              <a:rect l="l" t="t" r="r" b="b"/>
              <a:pathLst>
                <a:path w="24919" h="880458">
                  <a:moveTo>
                    <a:pt x="0" y="0"/>
                  </a:moveTo>
                  <a:lnTo>
                    <a:pt x="24919" y="0"/>
                  </a:lnTo>
                  <a:lnTo>
                    <a:pt x="24919" y="880458"/>
                  </a:lnTo>
                  <a:lnTo>
                    <a:pt x="0" y="880458"/>
                  </a:lnTo>
                  <a:close/>
                </a:path>
              </a:pathLst>
            </a:custGeom>
            <a:solidFill>
              <a:srgbClr val="FFFFFF"/>
            </a:solidFill>
          </p:spPr>
        </p:sp>
        <p:sp>
          <p:nvSpPr>
            <p:cNvPr id="12" name="TextBox 12"/>
            <p:cNvSpPr txBox="1"/>
            <p:nvPr/>
          </p:nvSpPr>
          <p:spPr>
            <a:xfrm>
              <a:off x="0" y="-38100"/>
              <a:ext cx="24919" cy="918558"/>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Freeform 13"/>
          <p:cNvSpPr/>
          <p:nvPr/>
        </p:nvSpPr>
        <p:spPr>
          <a:xfrm>
            <a:off x="10545951" y="4905392"/>
            <a:ext cx="6962658" cy="4956062"/>
          </a:xfrm>
          <a:custGeom>
            <a:avLst/>
            <a:gdLst/>
            <a:ahLst/>
            <a:cxnLst/>
            <a:rect l="l" t="t" r="r" b="b"/>
            <a:pathLst>
              <a:path w="6962658" h="4956062">
                <a:moveTo>
                  <a:pt x="0" y="0"/>
                </a:moveTo>
                <a:lnTo>
                  <a:pt x="6962659" y="0"/>
                </a:lnTo>
                <a:lnTo>
                  <a:pt x="6962659" y="4956063"/>
                </a:lnTo>
                <a:lnTo>
                  <a:pt x="0" y="4956063"/>
                </a:lnTo>
                <a:lnTo>
                  <a:pt x="0" y="0"/>
                </a:lnTo>
                <a:close/>
              </a:path>
            </a:pathLst>
          </a:custGeom>
          <a:blipFill>
            <a:blip r:embed="rId3"/>
            <a:stretch>
              <a:fillRect l="-1273" t="-6561" r="-4246" b="-7158"/>
            </a:stretch>
          </a:blipFill>
        </p:spPr>
      </p:sp>
      <p:sp>
        <p:nvSpPr>
          <p:cNvPr id="14" name="Freeform 14"/>
          <p:cNvSpPr/>
          <p:nvPr/>
        </p:nvSpPr>
        <p:spPr>
          <a:xfrm>
            <a:off x="10545951" y="66951"/>
            <a:ext cx="6713349" cy="4669770"/>
          </a:xfrm>
          <a:custGeom>
            <a:avLst/>
            <a:gdLst/>
            <a:ahLst/>
            <a:cxnLst/>
            <a:rect l="l" t="t" r="r" b="b"/>
            <a:pathLst>
              <a:path w="6713349" h="4669770">
                <a:moveTo>
                  <a:pt x="0" y="0"/>
                </a:moveTo>
                <a:lnTo>
                  <a:pt x="6713349" y="0"/>
                </a:lnTo>
                <a:lnTo>
                  <a:pt x="6713349" y="4669769"/>
                </a:lnTo>
                <a:lnTo>
                  <a:pt x="0" y="4669769"/>
                </a:lnTo>
                <a:lnTo>
                  <a:pt x="0" y="0"/>
                </a:lnTo>
                <a:close/>
              </a:path>
            </a:pathLst>
          </a:custGeom>
          <a:blipFill>
            <a:blip r:embed="rId4"/>
            <a:stretch>
              <a:fillRect l="-3699" t="-3001" r="-7079" b="-10501"/>
            </a:stretch>
          </a:blipFill>
        </p:spPr>
      </p:sp>
      <p:sp>
        <p:nvSpPr>
          <p:cNvPr id="15" name="TextBox 15"/>
          <p:cNvSpPr txBox="1"/>
          <p:nvPr/>
        </p:nvSpPr>
        <p:spPr>
          <a:xfrm>
            <a:off x="5708475" y="2161573"/>
            <a:ext cx="2459408" cy="538929"/>
          </a:xfrm>
          <a:prstGeom prst="rect">
            <a:avLst/>
          </a:prstGeom>
        </p:spPr>
        <p:txBody>
          <a:bodyPr lIns="0" tIns="0" rIns="0" bIns="0" rtlCol="0" anchor="t">
            <a:spAutoFit/>
          </a:bodyPr>
          <a:lstStyle/>
          <a:p>
            <a:pPr marL="0" lvl="0" indent="0" algn="ctr">
              <a:lnSpc>
                <a:spcPts val="4035"/>
              </a:lnSpc>
            </a:pPr>
            <a:r>
              <a:rPr lang="en-US" sz="4075" b="1" spc="-122">
                <a:solidFill>
                  <a:srgbClr val="FFFFFF"/>
                </a:solidFill>
                <a:latin typeface="Bricolage Grotesque Bold" panose="020B0605040402000204"/>
                <a:ea typeface="Bricolage Grotesque Bold" panose="020B0605040402000204"/>
                <a:cs typeface="Bricolage Grotesque Bold" panose="020B0605040402000204"/>
                <a:sym typeface="Bricolage Grotesque Bold" panose="020B0605040402000204"/>
              </a:rPr>
              <a:t>+$24.98K</a:t>
            </a:r>
            <a:endParaRPr lang="en-US" sz="4075" b="1" spc="-122">
              <a:solidFill>
                <a:srgbClr val="FFFFFF"/>
              </a:soli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
        <p:nvSpPr>
          <p:cNvPr id="16" name="TextBox 16"/>
          <p:cNvSpPr txBox="1"/>
          <p:nvPr/>
        </p:nvSpPr>
        <p:spPr>
          <a:xfrm>
            <a:off x="5718757" y="2973618"/>
            <a:ext cx="2438843" cy="728652"/>
          </a:xfrm>
          <a:prstGeom prst="rect">
            <a:avLst/>
          </a:prstGeom>
        </p:spPr>
        <p:txBody>
          <a:bodyPr lIns="0" tIns="0" rIns="0" bIns="0" rtlCol="0" anchor="t">
            <a:spAutoFit/>
          </a:bodyPr>
          <a:lstStyle/>
          <a:p>
            <a:pPr marL="0" lvl="0" indent="0" algn="ctr">
              <a:lnSpc>
                <a:spcPts val="2890"/>
              </a:lnSpc>
            </a:pPr>
            <a:r>
              <a:rPr lang="en-US" sz="2060" spc="-51">
                <a:solidFill>
                  <a:srgbClr val="FFFFFF"/>
                </a:solidFill>
                <a:latin typeface="Poppins" panose="00000500000000000000"/>
                <a:ea typeface="Poppins" panose="00000500000000000000"/>
                <a:cs typeface="Poppins" panose="00000500000000000000"/>
                <a:sym typeface="Poppins" panose="00000500000000000000"/>
              </a:rPr>
              <a:t>LOST REVENUE IMPACT</a:t>
            </a:r>
            <a:endParaRPr lang="en-US" sz="2060" spc="-51">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028700" y="5114925"/>
            <a:ext cx="6459505" cy="4945603"/>
          </a:xfrm>
          <a:prstGeom prst="rect">
            <a:avLst/>
          </a:prstGeom>
        </p:spPr>
        <p:txBody>
          <a:bodyPr lIns="0" tIns="0" rIns="0" bIns="0" rtlCol="0" anchor="t">
            <a:spAutoFit/>
          </a:bodyPr>
          <a:lstStyle/>
          <a:p>
            <a:pPr marL="0" lvl="0" indent="0" algn="l">
              <a:lnSpc>
                <a:spcPts val="3550"/>
              </a:lnSpc>
            </a:pPr>
            <a:r>
              <a:rPr lang="en-US" sz="2910">
                <a:solidFill>
                  <a:srgbClr val="FFFFFF"/>
                </a:solidFill>
                <a:latin typeface="Poppins" panose="00000500000000000000"/>
                <a:ea typeface="Poppins" panose="00000500000000000000"/>
                <a:cs typeface="Poppins" panose="00000500000000000000"/>
                <a:sym typeface="Poppins" panose="00000500000000000000"/>
              </a:rPr>
              <a:t>Th</a:t>
            </a:r>
            <a:r>
              <a:rPr lang="en-US" sz="2910">
                <a:solidFill>
                  <a:srgbClr val="FFFFFF"/>
                </a:solidFill>
                <a:latin typeface="Poppins" panose="00000500000000000000"/>
                <a:ea typeface="Poppins" panose="00000500000000000000"/>
                <a:cs typeface="Poppins" panose="00000500000000000000"/>
                <a:sym typeface="Poppins" panose="00000500000000000000"/>
              </a:rPr>
              <a:t>e overall return rate was 7.2%, resulting in approximately 24.98K in lost revenue. Electronics and Books had the highest return rates, while Marketplace recorded the lowest return rate but remained the least profitable channel, indicating that platform fees and operating costs have a greater impact on profitability than returns.</a:t>
            </a:r>
            <a:endParaRPr lang="en-US" sz="2910">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144711" y="1161782"/>
            <a:ext cx="3565987" cy="1240053"/>
          </a:xfrm>
          <a:prstGeom prst="rect">
            <a:avLst/>
          </a:prstGeom>
        </p:spPr>
        <p:txBody>
          <a:bodyPr lIns="0" tIns="0" rIns="0" bIns="0" rtlCol="0" anchor="t">
            <a:spAutoFit/>
          </a:bodyPr>
          <a:lstStyle/>
          <a:p>
            <a:pPr marL="0" lvl="0" indent="0" algn="l">
              <a:lnSpc>
                <a:spcPts val="4740"/>
              </a:lnSpc>
            </a:pPr>
            <a:r>
              <a:rPr lang="en-US" sz="4835" spc="-309">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Return Rate Analysis</a:t>
            </a:r>
            <a:endParaRPr lang="en-US" sz="4835" spc="-309">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8108445" y="1687476"/>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5" name="Group 5"/>
          <p:cNvGrpSpPr/>
          <p:nvPr/>
        </p:nvGrpSpPr>
        <p:grpSpPr>
          <a:xfrm rot="0">
            <a:off x="8238058" y="4449725"/>
            <a:ext cx="9021242" cy="379246"/>
            <a:chOff x="0" y="0"/>
            <a:chExt cx="12028323" cy="505662"/>
          </a:xfrm>
        </p:grpSpPr>
        <p:sp>
          <p:nvSpPr>
            <p:cNvPr id="6" name="TextBox 6"/>
            <p:cNvSpPr txBox="1"/>
            <p:nvPr/>
          </p:nvSpPr>
          <p:spPr>
            <a:xfrm>
              <a:off x="0" y="-49061"/>
              <a:ext cx="11773903" cy="554723"/>
            </a:xfrm>
            <a:prstGeom prst="rect">
              <a:avLst/>
            </a:prstGeom>
          </p:spPr>
          <p:txBody>
            <a:bodyPr lIns="0" tIns="0" rIns="0" bIns="0" rtlCol="0" anchor="t">
              <a:spAutoFit/>
            </a:bodyPr>
            <a:lstStyle/>
            <a:p>
              <a:pPr marL="0" lvl="0" indent="0" algn="l">
                <a:lnSpc>
                  <a:spcPts val="3320"/>
                </a:lnSpc>
              </a:pPr>
              <a:r>
                <a:rPr lang="en-US" sz="2370" b="1" spc="-59">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AVERAGE ROAS BY MARKETING PLATFORM</a:t>
              </a:r>
              <a:endParaRPr lang="en-US" sz="2370" b="1" spc="-59">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7" name="Freeform 7"/>
            <p:cNvSpPr/>
            <p:nvPr/>
          </p:nvSpPr>
          <p:spPr>
            <a:xfrm rot="-8687136">
              <a:off x="11711303" y="44820"/>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grpSp>
        <p:nvGrpSpPr>
          <p:cNvPr id="8" name="Group 8"/>
          <p:cNvGrpSpPr/>
          <p:nvPr/>
        </p:nvGrpSpPr>
        <p:grpSpPr>
          <a:xfrm rot="0">
            <a:off x="16438046" y="0"/>
            <a:ext cx="1849954" cy="1848166"/>
            <a:chOff x="0" y="0"/>
            <a:chExt cx="2466605" cy="2464222"/>
          </a:xfrm>
        </p:grpSpPr>
        <p:grpSp>
          <p:nvGrpSpPr>
            <p:cNvPr id="9" name="Group 9"/>
            <p:cNvGrpSpPr/>
            <p:nvPr/>
          </p:nvGrpSpPr>
          <p:grpSpPr>
            <a:xfrm rot="0">
              <a:off x="0" y="0"/>
              <a:ext cx="2466605" cy="2464222"/>
              <a:chOff x="0" y="0"/>
              <a:chExt cx="787566" cy="786805"/>
            </a:xfrm>
          </p:grpSpPr>
          <p:sp>
            <p:nvSpPr>
              <p:cNvPr id="10" name="Freeform 10"/>
              <p:cNvSpPr/>
              <p:nvPr/>
            </p:nvSpPr>
            <p:spPr>
              <a:xfrm>
                <a:off x="0" y="0"/>
                <a:ext cx="787566" cy="786805"/>
              </a:xfrm>
              <a:custGeom>
                <a:avLst/>
                <a:gdLst/>
                <a:ahLst/>
                <a:cxnLst/>
                <a:rect l="l" t="t" r="r" b="b"/>
                <a:pathLst>
                  <a:path w="787566" h="786805">
                    <a:moveTo>
                      <a:pt x="0" y="0"/>
                    </a:moveTo>
                    <a:lnTo>
                      <a:pt x="787566" y="0"/>
                    </a:lnTo>
                    <a:lnTo>
                      <a:pt x="787566" y="786805"/>
                    </a:lnTo>
                    <a:lnTo>
                      <a:pt x="0" y="786805"/>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1" name="TextBox 11"/>
              <p:cNvSpPr txBox="1"/>
              <p:nvPr/>
            </p:nvSpPr>
            <p:spPr>
              <a:xfrm>
                <a:off x="0" y="-38100"/>
                <a:ext cx="787566" cy="824905"/>
              </a:xfrm>
              <a:prstGeom prst="rect">
                <a:avLst/>
              </a:prstGeom>
            </p:spPr>
            <p:txBody>
              <a:bodyPr lIns="50800" tIns="50800" rIns="50800" bIns="50800" rtlCol="0" anchor="ctr"/>
              <a:lstStyle/>
              <a:p>
                <a:pPr marL="0" lvl="0" indent="0" algn="ctr">
                  <a:lnSpc>
                    <a:spcPts val="2660"/>
                  </a:lnSpc>
                  <a:spcBef>
                    <a:spcPct val="0"/>
                  </a:spcBef>
                </a:pPr>
              </a:p>
            </p:txBody>
          </p:sp>
        </p:grpSp>
        <p:sp>
          <p:nvSpPr>
            <p:cNvPr id="12" name="TextBox 12"/>
            <p:cNvSpPr txBox="1"/>
            <p:nvPr/>
          </p:nvSpPr>
          <p:spPr>
            <a:xfrm>
              <a:off x="319164" y="694049"/>
              <a:ext cx="1828278" cy="1199949"/>
            </a:xfrm>
            <a:prstGeom prst="rect">
              <a:avLst/>
            </a:prstGeom>
          </p:spPr>
          <p:txBody>
            <a:bodyPr lIns="0" tIns="0" rIns="0" bIns="0" rtlCol="0" anchor="t">
              <a:spAutoFit/>
            </a:bodyPr>
            <a:lstStyle/>
            <a:p>
              <a:pPr marL="0" lvl="0" indent="0" algn="ctr">
                <a:lnSpc>
                  <a:spcPts val="6425"/>
                </a:lnSpc>
              </a:pPr>
              <a:r>
                <a:rPr lang="en-US" sz="6555" spc="-419">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09</a:t>
              </a:r>
              <a:endParaRPr lang="en-US" sz="6555" spc="-419">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3" name="AutoShape 13"/>
          <p:cNvSpPr/>
          <p:nvPr/>
        </p:nvSpPr>
        <p:spPr>
          <a:xfrm>
            <a:off x="7185469" y="0"/>
            <a:ext cx="0" cy="10287000"/>
          </a:xfrm>
          <a:prstGeom prst="line">
            <a:avLst/>
          </a:prstGeom>
          <a:ln w="19050" cap="rnd">
            <a:solidFill>
              <a:srgbClr val="3A58E4"/>
            </a:solidFill>
            <a:prstDash val="solid"/>
            <a:headEnd type="none" w="sm" len="sm"/>
            <a:tailEnd type="none" w="sm" len="sm"/>
          </a:ln>
        </p:spPr>
      </p:sp>
      <p:sp>
        <p:nvSpPr>
          <p:cNvPr id="14" name="AutoShape 14"/>
          <p:cNvSpPr/>
          <p:nvPr/>
        </p:nvSpPr>
        <p:spPr>
          <a:xfrm>
            <a:off x="0" y="5780605"/>
            <a:ext cx="7185469" cy="0"/>
          </a:xfrm>
          <a:prstGeom prst="line">
            <a:avLst/>
          </a:prstGeom>
          <a:ln w="19050" cap="rnd">
            <a:solidFill>
              <a:srgbClr val="3A58E4"/>
            </a:solidFill>
            <a:prstDash val="solid"/>
            <a:headEnd type="none" w="sm" len="sm"/>
            <a:tailEnd type="none" w="sm" len="sm"/>
          </a:ln>
        </p:spPr>
      </p:sp>
      <p:sp>
        <p:nvSpPr>
          <p:cNvPr id="15" name="Freeform 15"/>
          <p:cNvSpPr/>
          <p:nvPr/>
        </p:nvSpPr>
        <p:spPr>
          <a:xfrm>
            <a:off x="210598" y="387381"/>
            <a:ext cx="6974871" cy="4952331"/>
          </a:xfrm>
          <a:custGeom>
            <a:avLst/>
            <a:gdLst/>
            <a:ahLst/>
            <a:cxnLst/>
            <a:rect l="l" t="t" r="r" b="b"/>
            <a:pathLst>
              <a:path w="6974871" h="4952331">
                <a:moveTo>
                  <a:pt x="0" y="0"/>
                </a:moveTo>
                <a:lnTo>
                  <a:pt x="6974871" y="0"/>
                </a:lnTo>
                <a:lnTo>
                  <a:pt x="6974871" y="4952331"/>
                </a:lnTo>
                <a:lnTo>
                  <a:pt x="0" y="4952331"/>
                </a:lnTo>
                <a:lnTo>
                  <a:pt x="0" y="0"/>
                </a:lnTo>
                <a:close/>
              </a:path>
            </a:pathLst>
          </a:custGeom>
          <a:blipFill>
            <a:blip r:embed="rId3"/>
            <a:stretch>
              <a:fillRect l="-4851" t="-3106" r="-7931" b="-6888"/>
            </a:stretch>
          </a:blipFill>
        </p:spPr>
      </p:sp>
      <p:sp>
        <p:nvSpPr>
          <p:cNvPr id="16" name="TextBox 16"/>
          <p:cNvSpPr txBox="1"/>
          <p:nvPr/>
        </p:nvSpPr>
        <p:spPr>
          <a:xfrm>
            <a:off x="8603136" y="1558113"/>
            <a:ext cx="7107541" cy="2499419"/>
          </a:xfrm>
          <a:prstGeom prst="rect">
            <a:avLst/>
          </a:prstGeom>
        </p:spPr>
        <p:txBody>
          <a:bodyPr lIns="0" tIns="0" rIns="0" bIns="0" rtlCol="0" anchor="t">
            <a:spAutoFit/>
          </a:bodyPr>
          <a:lstStyle/>
          <a:p>
            <a:pPr marL="0" lvl="0" indent="0" algn="l">
              <a:lnSpc>
                <a:spcPts val="9605"/>
              </a:lnSpc>
            </a:pPr>
            <a:r>
              <a:rPr lang="en-US" sz="9800" spc="-62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Marketing</a:t>
            </a:r>
            <a:endParaRPr lang="en-US" sz="9800" spc="-62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a:p>
            <a:pPr marL="0" lvl="0" indent="0" algn="l">
              <a:lnSpc>
                <a:spcPts val="9605"/>
              </a:lnSpc>
            </a:pPr>
            <a:r>
              <a:rPr lang="en-US" sz="9800" spc="-62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Performance</a:t>
            </a:r>
            <a:endParaRPr lang="en-US" sz="9800" spc="-627">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7" name="TextBox 17"/>
          <p:cNvSpPr txBox="1"/>
          <p:nvPr/>
        </p:nvSpPr>
        <p:spPr>
          <a:xfrm>
            <a:off x="7828142" y="5825889"/>
            <a:ext cx="9021242" cy="3602485"/>
          </a:xfrm>
          <a:prstGeom prst="rect">
            <a:avLst/>
          </a:prstGeom>
        </p:spPr>
        <p:txBody>
          <a:bodyPr lIns="0" tIns="0" rIns="0" bIns="0" rtlCol="0" anchor="t">
            <a:spAutoFit/>
          </a:bodyPr>
          <a:lstStyle/>
          <a:p>
            <a:pPr marL="0" lvl="0" indent="0" algn="l">
              <a:lnSpc>
                <a:spcPts val="4085"/>
              </a:lnSpc>
            </a:pPr>
            <a:r>
              <a:rPr lang="en-US" sz="2920" spc="-8">
                <a:solidFill>
                  <a:srgbClr val="3A58E4"/>
                </a:solidFill>
                <a:latin typeface="Poppins" panose="00000500000000000000"/>
                <a:ea typeface="Poppins" panose="00000500000000000000"/>
                <a:cs typeface="Poppins" panose="00000500000000000000"/>
                <a:sym typeface="Poppins" panose="00000500000000000000"/>
              </a:rPr>
              <a:t>TikTok Ads achieved the highest average ROAS </a:t>
            </a:r>
            <a:r>
              <a:rPr lang="en-US" sz="2920" b="1" spc="-8">
                <a:solidFill>
                  <a:srgbClr val="3A58E4"/>
                </a:solidFill>
                <a:latin typeface="Poppins Bold" panose="00000800000000000000"/>
                <a:ea typeface="Poppins Bold" panose="00000800000000000000"/>
                <a:cs typeface="Poppins Bold" panose="00000800000000000000"/>
                <a:sym typeface="Poppins Bold" panose="00000800000000000000"/>
              </a:rPr>
              <a:t>(24.4)</a:t>
            </a:r>
            <a:r>
              <a:rPr lang="en-US" sz="2920" spc="-8">
                <a:solidFill>
                  <a:srgbClr val="3A58E4"/>
                </a:solidFill>
                <a:latin typeface="Poppins" panose="00000500000000000000"/>
                <a:ea typeface="Poppins" panose="00000500000000000000"/>
                <a:cs typeface="Poppins" panose="00000500000000000000"/>
                <a:sym typeface="Poppins" panose="00000500000000000000"/>
              </a:rPr>
              <a:t>, followed by Influencer Marketing </a:t>
            </a:r>
            <a:r>
              <a:rPr lang="en-US" sz="2920" b="1" spc="-8">
                <a:solidFill>
                  <a:srgbClr val="3A58E4"/>
                </a:solidFill>
                <a:latin typeface="Poppins Bold" panose="00000800000000000000"/>
                <a:ea typeface="Poppins Bold" panose="00000800000000000000"/>
                <a:cs typeface="Poppins Bold" panose="00000800000000000000"/>
                <a:sym typeface="Poppins Bold" panose="00000800000000000000"/>
              </a:rPr>
              <a:t>(23.4</a:t>
            </a:r>
            <a:r>
              <a:rPr lang="en-US" sz="2920" spc="-8">
                <a:solidFill>
                  <a:srgbClr val="3A58E4"/>
                </a:solidFill>
                <a:latin typeface="Poppins" panose="00000500000000000000"/>
                <a:ea typeface="Poppins" panose="00000500000000000000"/>
                <a:cs typeface="Poppins" panose="00000500000000000000"/>
                <a:sym typeface="Poppins" panose="00000500000000000000"/>
              </a:rPr>
              <a:t>). Email Marketing recorded the lowest ROAS </a:t>
            </a:r>
            <a:r>
              <a:rPr lang="en-US" sz="2920" b="1" spc="-8">
                <a:solidFill>
                  <a:srgbClr val="3A58E4"/>
                </a:solidFill>
                <a:latin typeface="Poppins Bold" panose="00000800000000000000"/>
                <a:ea typeface="Poppins Bold" panose="00000800000000000000"/>
                <a:cs typeface="Poppins Bold" panose="00000800000000000000"/>
                <a:sym typeface="Poppins Bold" panose="00000800000000000000"/>
              </a:rPr>
              <a:t>(5.4)</a:t>
            </a:r>
            <a:r>
              <a:rPr lang="en-US" sz="2920" spc="-8">
                <a:solidFill>
                  <a:srgbClr val="3A58E4"/>
                </a:solidFill>
                <a:latin typeface="Poppins" panose="00000500000000000000"/>
                <a:ea typeface="Poppins" panose="00000500000000000000"/>
                <a:cs typeface="Poppins" panose="00000500000000000000"/>
                <a:sym typeface="Poppins" panose="00000500000000000000"/>
              </a:rPr>
              <a:t>, making it the least effective marketing channel. Although Google Ads received a large share of the marketing budget, it delivered a lower ROAS than TikTok Ads and Influencer Marketing.</a:t>
            </a:r>
            <a:endParaRPr lang="en-US" sz="2920" spc="-8">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1932279" y="8637034"/>
            <a:ext cx="3088700" cy="791340"/>
          </a:xfrm>
          <a:prstGeom prst="rect">
            <a:avLst/>
          </a:prstGeom>
        </p:spPr>
        <p:txBody>
          <a:bodyPr lIns="0" tIns="0" rIns="0" bIns="0" rtlCol="0" anchor="t">
            <a:spAutoFit/>
          </a:bodyPr>
          <a:lstStyle/>
          <a:p>
            <a:pPr marL="0" lvl="0" indent="0" algn="ctr">
              <a:lnSpc>
                <a:spcPts val="3105"/>
              </a:lnSpc>
            </a:pPr>
            <a:r>
              <a:rPr lang="en-US" sz="2220" spc="-6">
                <a:solidFill>
                  <a:srgbClr val="3A58E4"/>
                </a:solidFill>
                <a:latin typeface="Poppins" panose="00000500000000000000"/>
                <a:ea typeface="Poppins" panose="00000500000000000000"/>
                <a:cs typeface="Poppins" panose="00000500000000000000"/>
                <a:sym typeface="Poppins" panose="00000500000000000000"/>
              </a:rPr>
              <a:t>TikTok Ads leads with strongest ROAS</a:t>
            </a:r>
            <a:endParaRPr lang="en-US" sz="2220" spc="-6">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9" name="TextBox 19"/>
          <p:cNvSpPr txBox="1"/>
          <p:nvPr/>
        </p:nvSpPr>
        <p:spPr>
          <a:xfrm>
            <a:off x="918347" y="6122434"/>
            <a:ext cx="5116565" cy="2581275"/>
          </a:xfrm>
          <a:prstGeom prst="rect">
            <a:avLst/>
          </a:prstGeom>
        </p:spPr>
        <p:txBody>
          <a:bodyPr lIns="0" tIns="0" rIns="0" bIns="0" rtlCol="0" anchor="t">
            <a:spAutoFit/>
          </a:bodyPr>
          <a:lstStyle/>
          <a:p>
            <a:pPr marL="0" lvl="0" indent="0" algn="ctr">
              <a:lnSpc>
                <a:spcPts val="21000"/>
              </a:lnSpc>
              <a:spcBef>
                <a:spcPct val="0"/>
              </a:spcBef>
            </a:pPr>
            <a:r>
              <a:rPr lang="en-US" sz="15000" spc="-960">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24.4</a:t>
            </a:r>
            <a:endParaRPr lang="en-US" sz="15000" spc="-960">
              <a:gradFill>
                <a:gsLst>
                  <a:gs pos="0">
                    <a:srgbClr val="3A58E4">
                      <a:alpha val="100000"/>
                    </a:srgbClr>
                  </a:gs>
                  <a:gs pos="100000">
                    <a:srgbClr val="293E9C">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52185" y="3836521"/>
            <a:ext cx="11401909" cy="6450479"/>
          </a:xfrm>
          <a:custGeom>
            <a:avLst/>
            <a:gdLst/>
            <a:ahLst/>
            <a:cxnLst/>
            <a:rect l="l" t="t" r="r" b="b"/>
            <a:pathLst>
              <a:path w="11401909" h="6450479">
                <a:moveTo>
                  <a:pt x="0" y="0"/>
                </a:moveTo>
                <a:lnTo>
                  <a:pt x="11401909" y="0"/>
                </a:lnTo>
                <a:lnTo>
                  <a:pt x="11401909" y="6450479"/>
                </a:lnTo>
                <a:lnTo>
                  <a:pt x="0" y="6450479"/>
                </a:lnTo>
                <a:lnTo>
                  <a:pt x="0" y="0"/>
                </a:lnTo>
                <a:close/>
              </a:path>
            </a:pathLst>
          </a:custGeom>
          <a:blipFill>
            <a:blip r:embed="rId1"/>
            <a:stretch>
              <a:fillRect l="-1653" t="-391" r="-6022"/>
            </a:stretch>
          </a:blipFill>
        </p:spPr>
      </p:sp>
      <p:grpSp>
        <p:nvGrpSpPr>
          <p:cNvPr id="3" name="Group 3"/>
          <p:cNvGrpSpPr/>
          <p:nvPr/>
        </p:nvGrpSpPr>
        <p:grpSpPr>
          <a:xfrm rot="0">
            <a:off x="552185" y="666750"/>
            <a:ext cx="47625" cy="2040668"/>
            <a:chOff x="0" y="0"/>
            <a:chExt cx="12543" cy="537460"/>
          </a:xfrm>
        </p:grpSpPr>
        <p:sp>
          <p:nvSpPr>
            <p:cNvPr id="4" name="Freeform 4"/>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5" name="TextBox 5"/>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6" name="Freeform 6"/>
          <p:cNvSpPr/>
          <p:nvPr/>
        </p:nvSpPr>
        <p:spPr>
          <a:xfrm>
            <a:off x="12372855" y="2956562"/>
            <a:ext cx="5327152" cy="7034412"/>
          </a:xfrm>
          <a:custGeom>
            <a:avLst/>
            <a:gdLst/>
            <a:ahLst/>
            <a:cxnLst/>
            <a:rect l="l" t="t" r="r" b="b"/>
            <a:pathLst>
              <a:path w="5327152" h="7034412">
                <a:moveTo>
                  <a:pt x="0" y="0"/>
                </a:moveTo>
                <a:lnTo>
                  <a:pt x="5327152" y="0"/>
                </a:lnTo>
                <a:lnTo>
                  <a:pt x="5327152" y="7034412"/>
                </a:lnTo>
                <a:lnTo>
                  <a:pt x="0" y="7034412"/>
                </a:lnTo>
                <a:lnTo>
                  <a:pt x="0" y="0"/>
                </a:lnTo>
                <a:close/>
              </a:path>
            </a:pathLst>
          </a:custGeom>
          <a:blipFill>
            <a:blip r:embed="rId2"/>
            <a:stretch>
              <a:fillRect l="-2104" t="-4651" r="-2630" b="-325"/>
            </a:stretch>
          </a:blipFill>
        </p:spPr>
      </p:sp>
      <p:sp>
        <p:nvSpPr>
          <p:cNvPr id="7" name="TextBox 7"/>
          <p:cNvSpPr txBox="1"/>
          <p:nvPr/>
        </p:nvSpPr>
        <p:spPr>
          <a:xfrm>
            <a:off x="819150" y="758952"/>
            <a:ext cx="8324850" cy="1943100"/>
          </a:xfrm>
          <a:prstGeom prst="rect">
            <a:avLst/>
          </a:prstGeom>
        </p:spPr>
        <p:txBody>
          <a:bodyPr lIns="0" tIns="0" rIns="0" bIns="0" rtlCol="0" anchor="t">
            <a:spAutoFit/>
          </a:bodyPr>
          <a:lstStyle/>
          <a:p>
            <a:pPr marL="0" lvl="0" indent="0" algn="l">
              <a:lnSpc>
                <a:spcPts val="7680"/>
              </a:lnSpc>
              <a:spcBef>
                <a:spcPct val="0"/>
              </a:spcBef>
            </a:pPr>
            <a:r>
              <a:rPr lang="en-US" sz="6400" spc="-409">
                <a:solidFill>
                  <a:srgbClr val="293E9C"/>
                </a:solidFill>
                <a:latin typeface="Bricolage Grotesque" panose="020B0605040402000204"/>
                <a:ea typeface="Bricolage Grotesque" panose="020B0605040402000204"/>
                <a:cs typeface="Bricolage Grotesque" panose="020B0605040402000204"/>
                <a:sym typeface="Bricolage Grotesque" panose="020B0605040402000204"/>
              </a:rPr>
              <a:t>Mark</a:t>
            </a:r>
            <a:r>
              <a:rPr lang="en-US" sz="6400" spc="-409">
                <a:solidFill>
                  <a:srgbClr val="293E9C"/>
                </a:solidFill>
                <a:latin typeface="Bricolage Grotesque" panose="020B0605040402000204"/>
                <a:ea typeface="Bricolage Grotesque" panose="020B0605040402000204"/>
                <a:cs typeface="Bricolage Grotesque" panose="020B0605040402000204"/>
                <a:sym typeface="Bricolage Grotesque" panose="020B0605040402000204"/>
              </a:rPr>
              <a:t>et</a:t>
            </a:r>
            <a:r>
              <a:rPr lang="en-US" sz="6400" u="none" strike="noStrike" spc="-409">
                <a:solidFill>
                  <a:srgbClr val="293E9C"/>
                </a:solidFill>
                <a:latin typeface="Bricolage Grotesque" panose="020B0605040402000204"/>
                <a:ea typeface="Bricolage Grotesque" panose="020B0605040402000204"/>
                <a:cs typeface="Bricolage Grotesque" panose="020B0605040402000204"/>
                <a:sym typeface="Bricolage Grotesque" panose="020B0605040402000204"/>
              </a:rPr>
              <a:t>ing Budget Optimization</a:t>
            </a:r>
            <a:endParaRPr lang="en-US" sz="6400" u="none" strike="noStrike" spc="-409">
              <a:solidFill>
                <a:srgbClr val="293E9C"/>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8" name="TextBox 8"/>
          <p:cNvSpPr txBox="1"/>
          <p:nvPr/>
        </p:nvSpPr>
        <p:spPr>
          <a:xfrm>
            <a:off x="7990697" y="590550"/>
            <a:ext cx="9630553" cy="2111502"/>
          </a:xfrm>
          <a:prstGeom prst="rect">
            <a:avLst/>
          </a:prstGeom>
        </p:spPr>
        <p:txBody>
          <a:bodyPr lIns="0" tIns="0" rIns="0" bIns="0" rtlCol="0" anchor="t">
            <a:spAutoFit/>
          </a:bodyPr>
          <a:lstStyle/>
          <a:p>
            <a:pPr marL="0" lvl="0" indent="0" algn="l">
              <a:lnSpc>
                <a:spcPts val="3320"/>
              </a:lnSpc>
              <a:spcBef>
                <a:spcPct val="0"/>
              </a:spcBef>
            </a:pPr>
            <a:r>
              <a:rPr lang="en-US" sz="2370" spc="-7">
                <a:solidFill>
                  <a:srgbClr val="3A58E4"/>
                </a:solidFill>
                <a:latin typeface="Poppins" panose="00000500000000000000"/>
                <a:ea typeface="Poppins" panose="00000500000000000000"/>
                <a:cs typeface="Poppins" panose="00000500000000000000"/>
                <a:sym typeface="Poppins" panose="00000500000000000000"/>
              </a:rPr>
              <a:t>The comp</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any spent </a:t>
            </a:r>
            <a:r>
              <a:rPr lang="en-US" sz="2370" b="1" u="none" strike="noStrike" spc="-7">
                <a:solidFill>
                  <a:srgbClr val="3A58E4"/>
                </a:solidFill>
                <a:latin typeface="Poppins Bold" panose="00000800000000000000"/>
                <a:ea typeface="Poppins Bold" panose="00000800000000000000"/>
                <a:cs typeface="Poppins Bold" panose="00000800000000000000"/>
                <a:sym typeface="Poppins Bold" panose="00000800000000000000"/>
              </a:rPr>
              <a:t>503.51K</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 on marketing over the analysis period. A</a:t>
            </a:r>
            <a:r>
              <a:rPr lang="en-US" sz="2370" b="1" u="none" strike="noStrike" spc="-7">
                <a:solidFill>
                  <a:srgbClr val="3A58E4"/>
                </a:solidFill>
                <a:latin typeface="Poppins Bold" panose="00000800000000000000"/>
                <a:ea typeface="Poppins Bold" panose="00000800000000000000"/>
                <a:cs typeface="Poppins Bold" panose="00000800000000000000"/>
                <a:sym typeface="Poppins Bold" panose="00000800000000000000"/>
              </a:rPr>
              <a:t> 20% </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budget reduction equals approximately </a:t>
            </a:r>
            <a:r>
              <a:rPr lang="en-US" sz="2370" b="1" u="none" strike="noStrike" spc="-7">
                <a:solidFill>
                  <a:srgbClr val="3A58E4"/>
                </a:solidFill>
                <a:latin typeface="Poppins Bold" panose="00000800000000000000"/>
                <a:ea typeface="Poppins Bold" panose="00000800000000000000"/>
                <a:cs typeface="Poppins Bold" panose="00000800000000000000"/>
                <a:sym typeface="Poppins Bold" panose="00000800000000000000"/>
              </a:rPr>
              <a:t>100.70K</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 Based on ROAS performan</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ce, Email Market</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ing and </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Fa</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c</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ebook Ads </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pr</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ov</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ide</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 </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the grea</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tes</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t</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 opportunity</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 f</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or cost </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reduc</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tion without signific</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a</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ntly affecting ov</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er</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all returns</a:t>
            </a:r>
            <a:r>
              <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rPr>
              <a:t>.</a:t>
            </a:r>
            <a:endParaRPr lang="en-US" sz="2370" u="none" strike="noStrike" spc="-7">
              <a:solidFill>
                <a:srgbClr val="3A58E4"/>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56766" y="1551693"/>
            <a:ext cx="5217559" cy="1831011"/>
          </a:xfrm>
          <a:prstGeom prst="rect">
            <a:avLst/>
          </a:prstGeom>
        </p:spPr>
        <p:txBody>
          <a:bodyPr lIns="0" tIns="0" rIns="0" bIns="0" rtlCol="0" anchor="t">
            <a:spAutoFit/>
          </a:bodyPr>
          <a:lstStyle/>
          <a:p>
            <a:pPr marL="0" lvl="0" indent="0" algn="l">
              <a:lnSpc>
                <a:spcPts val="7030"/>
              </a:lnSpc>
            </a:pPr>
            <a:r>
              <a:rPr lang="en-US" sz="7175" spc="-459">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Key Insights Summary</a:t>
            </a:r>
            <a:endParaRPr lang="en-US" sz="7175" spc="-459">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nvGrpSpPr>
          <p:cNvPr id="3" name="Group 3"/>
          <p:cNvGrpSpPr/>
          <p:nvPr/>
        </p:nvGrpSpPr>
        <p:grpSpPr>
          <a:xfrm rot="0">
            <a:off x="1028700" y="1358088"/>
            <a:ext cx="47625" cy="2040668"/>
            <a:chOff x="0" y="0"/>
            <a:chExt cx="12543" cy="537460"/>
          </a:xfrm>
        </p:grpSpPr>
        <p:sp>
          <p:nvSpPr>
            <p:cNvPr id="4" name="Freeform 4"/>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5" name="TextBox 5"/>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6" name="Group 6"/>
          <p:cNvGrpSpPr/>
          <p:nvPr/>
        </p:nvGrpSpPr>
        <p:grpSpPr>
          <a:xfrm rot="0">
            <a:off x="1256766" y="3888808"/>
            <a:ext cx="7364671" cy="688697"/>
            <a:chOff x="0" y="0"/>
            <a:chExt cx="9819562" cy="918263"/>
          </a:xfrm>
        </p:grpSpPr>
        <p:sp>
          <p:nvSpPr>
            <p:cNvPr id="7" name="TextBox 7"/>
            <p:cNvSpPr txBox="1"/>
            <p:nvPr/>
          </p:nvSpPr>
          <p:spPr>
            <a:xfrm>
              <a:off x="0" y="-57150"/>
              <a:ext cx="9819562" cy="975413"/>
            </a:xfrm>
            <a:prstGeom prst="rect">
              <a:avLst/>
            </a:prstGeom>
          </p:spPr>
          <p:txBody>
            <a:bodyPr lIns="0" tIns="0" rIns="0" bIns="0" rtlCol="0" anchor="t">
              <a:spAutoFit/>
            </a:bodyPr>
            <a:lstStyle/>
            <a:p>
              <a:pPr marL="0" lvl="0" indent="0" algn="l">
                <a:lnSpc>
                  <a:spcPts val="2990"/>
                </a:lnSpc>
              </a:pPr>
              <a:r>
                <a:rPr lang="en-US" sz="2135" b="1" spc="-53">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SYNTHESIS OF MAJOR FINDINGS FROM BRIGHTCART PROFITABILITY ANALYSIS</a:t>
              </a:r>
              <a:endParaRPr lang="en-US" sz="2135" b="1" spc="-53">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8" name="Freeform 8"/>
            <p:cNvSpPr/>
            <p:nvPr/>
          </p:nvSpPr>
          <p:spPr>
            <a:xfrm rot="-8687136">
              <a:off x="4592761" y="568586"/>
              <a:ext cx="252200" cy="304858"/>
            </a:xfrm>
            <a:custGeom>
              <a:avLst/>
              <a:gdLst/>
              <a:ahLst/>
              <a:cxnLst/>
              <a:rect l="l" t="t" r="r" b="b"/>
              <a:pathLst>
                <a:path w="252200" h="304858">
                  <a:moveTo>
                    <a:pt x="0" y="0"/>
                  </a:moveTo>
                  <a:lnTo>
                    <a:pt x="252200" y="0"/>
                  </a:lnTo>
                  <a:lnTo>
                    <a:pt x="252200" y="304857"/>
                  </a:lnTo>
                  <a:lnTo>
                    <a:pt x="0" y="3048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grpSp>
        <p:nvGrpSpPr>
          <p:cNvPr id="9" name="Group 9"/>
          <p:cNvGrpSpPr/>
          <p:nvPr/>
        </p:nvGrpSpPr>
        <p:grpSpPr>
          <a:xfrm rot="0">
            <a:off x="16438046" y="268111"/>
            <a:ext cx="1849954" cy="1580055"/>
            <a:chOff x="0" y="0"/>
            <a:chExt cx="2466605" cy="2106740"/>
          </a:xfrm>
        </p:grpSpPr>
        <p:grpSp>
          <p:nvGrpSpPr>
            <p:cNvPr id="10" name="Group 10"/>
            <p:cNvGrpSpPr/>
            <p:nvPr/>
          </p:nvGrpSpPr>
          <p:grpSpPr>
            <a:xfrm rot="0">
              <a:off x="0" y="0"/>
              <a:ext cx="2466605" cy="2106740"/>
              <a:chOff x="0" y="0"/>
              <a:chExt cx="787566" cy="672664"/>
            </a:xfrm>
          </p:grpSpPr>
          <p:sp>
            <p:nvSpPr>
              <p:cNvPr id="11" name="Freeform 11"/>
              <p:cNvSpPr/>
              <p:nvPr/>
            </p:nvSpPr>
            <p:spPr>
              <a:xfrm>
                <a:off x="0" y="0"/>
                <a:ext cx="787566" cy="672664"/>
              </a:xfrm>
              <a:custGeom>
                <a:avLst/>
                <a:gdLst/>
                <a:ahLst/>
                <a:cxnLst/>
                <a:rect l="l" t="t" r="r" b="b"/>
                <a:pathLst>
                  <a:path w="787566" h="672664">
                    <a:moveTo>
                      <a:pt x="0" y="0"/>
                    </a:moveTo>
                    <a:lnTo>
                      <a:pt x="787566" y="0"/>
                    </a:lnTo>
                    <a:lnTo>
                      <a:pt x="787566" y="672664"/>
                    </a:lnTo>
                    <a:lnTo>
                      <a:pt x="0" y="672664"/>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710764"/>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319164" y="655949"/>
              <a:ext cx="1828278" cy="880567"/>
            </a:xfrm>
            <a:prstGeom prst="rect">
              <a:avLst/>
            </a:prstGeom>
          </p:spPr>
          <p:txBody>
            <a:bodyPr lIns="0" tIns="0" rIns="0" bIns="0" rtlCol="0" anchor="t">
              <a:spAutoFit/>
            </a:bodyPr>
            <a:lstStyle/>
            <a:p>
              <a:pPr marL="0" lvl="0" indent="0" algn="ctr">
                <a:lnSpc>
                  <a:spcPts val="4705"/>
                </a:lnSpc>
              </a:pPr>
              <a:r>
                <a:rPr lang="en-US" sz="4800" spc="-30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10</a:t>
              </a:r>
              <a:endParaRPr lang="en-US" sz="4800" spc="-30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4" name="TextBox 14"/>
          <p:cNvSpPr txBox="1"/>
          <p:nvPr/>
        </p:nvSpPr>
        <p:spPr>
          <a:xfrm>
            <a:off x="1870201" y="4968031"/>
            <a:ext cx="14174740" cy="1048756"/>
          </a:xfrm>
          <a:prstGeom prst="rect">
            <a:avLst/>
          </a:prstGeom>
        </p:spPr>
        <p:txBody>
          <a:bodyPr lIns="0" tIns="0" rIns="0" bIns="0" rtlCol="0" anchor="t">
            <a:spAutoFit/>
          </a:bodyPr>
          <a:lstStyle/>
          <a:p>
            <a:pPr marL="0" lvl="0" indent="0" algn="just">
              <a:lnSpc>
                <a:spcPts val="4145"/>
              </a:lnSpc>
            </a:pPr>
            <a:r>
              <a:rPr lang="en-US" sz="2960" spc="-74">
                <a:solidFill>
                  <a:srgbClr val="3A58E4"/>
                </a:solidFill>
                <a:latin typeface="Poppins" panose="00000500000000000000"/>
                <a:ea typeface="Poppins" panose="00000500000000000000"/>
                <a:cs typeface="Poppins" panose="00000500000000000000"/>
                <a:sym typeface="Poppins" panose="00000500000000000000"/>
              </a:rPr>
              <a:t>Electronics was the most p</a:t>
            </a:r>
            <a:r>
              <a:rPr lang="en-US" sz="2960" spc="-74">
                <a:solidFill>
                  <a:srgbClr val="3A58E4"/>
                </a:solidFill>
                <a:latin typeface="Poppins" panose="00000500000000000000"/>
                <a:ea typeface="Poppins" panose="00000500000000000000"/>
                <a:cs typeface="Poppins" panose="00000500000000000000"/>
                <a:sym typeface="Poppins" panose="00000500000000000000"/>
              </a:rPr>
              <a:t>rofitable category (31.13%), while Books had the lowest profit margin (11.94%) due to high shipping costs.</a:t>
            </a:r>
            <a:endParaRPr lang="en-US" sz="2960" spc="-74">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5" name="TextBox 15"/>
          <p:cNvSpPr txBox="1"/>
          <p:nvPr/>
        </p:nvSpPr>
        <p:spPr>
          <a:xfrm>
            <a:off x="1870201" y="6155202"/>
            <a:ext cx="14005243" cy="1013196"/>
          </a:xfrm>
          <a:prstGeom prst="rect">
            <a:avLst/>
          </a:prstGeom>
        </p:spPr>
        <p:txBody>
          <a:bodyPr lIns="0" tIns="0" rIns="0" bIns="0" rtlCol="0" anchor="t">
            <a:spAutoFit/>
          </a:bodyPr>
          <a:lstStyle/>
          <a:p>
            <a:pPr marL="0" lvl="0" indent="0" algn="just">
              <a:lnSpc>
                <a:spcPts val="4005"/>
              </a:lnSpc>
            </a:pPr>
            <a:r>
              <a:rPr lang="en-US" sz="2860" spc="-71">
                <a:solidFill>
                  <a:srgbClr val="3A58E4"/>
                </a:solidFill>
                <a:latin typeface="Poppins" panose="00000500000000000000"/>
                <a:ea typeface="Poppins" panose="00000500000000000000"/>
                <a:cs typeface="Poppins" panose="00000500000000000000"/>
                <a:sym typeface="Poppins" panose="00000500000000000000"/>
              </a:rPr>
              <a:t>Sh</a:t>
            </a:r>
            <a:r>
              <a:rPr lang="en-US" sz="2860" spc="-71">
                <a:solidFill>
                  <a:srgbClr val="3A58E4"/>
                </a:solidFill>
                <a:latin typeface="Poppins" panose="00000500000000000000"/>
                <a:ea typeface="Poppins" panose="00000500000000000000"/>
                <a:cs typeface="Poppins" panose="00000500000000000000"/>
                <a:sym typeface="Poppins" panose="00000500000000000000"/>
              </a:rPr>
              <a:t>ipping costs were the biggest factor affecting profitability across product categories.</a:t>
            </a:r>
            <a:endParaRPr lang="en-US" sz="2860" spc="-71">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6" name="TextBox 16"/>
          <p:cNvSpPr txBox="1"/>
          <p:nvPr/>
        </p:nvSpPr>
        <p:spPr>
          <a:xfrm>
            <a:off x="1870201" y="7306813"/>
            <a:ext cx="14005243" cy="1013196"/>
          </a:xfrm>
          <a:prstGeom prst="rect">
            <a:avLst/>
          </a:prstGeom>
        </p:spPr>
        <p:txBody>
          <a:bodyPr lIns="0" tIns="0" rIns="0" bIns="0" rtlCol="0" anchor="t">
            <a:spAutoFit/>
          </a:bodyPr>
          <a:lstStyle/>
          <a:p>
            <a:pPr marL="0" lvl="0" indent="0" algn="just">
              <a:lnSpc>
                <a:spcPts val="4005"/>
              </a:lnSpc>
            </a:pPr>
            <a:r>
              <a:rPr lang="en-US" sz="2860" spc="-71">
                <a:solidFill>
                  <a:srgbClr val="3A58E4"/>
                </a:solidFill>
                <a:latin typeface="Poppins" panose="00000500000000000000"/>
                <a:ea typeface="Poppins" panose="00000500000000000000"/>
                <a:cs typeface="Poppins" panose="00000500000000000000"/>
                <a:sym typeface="Poppins" panose="00000500000000000000"/>
              </a:rPr>
              <a:t>The </a:t>
            </a:r>
            <a:r>
              <a:rPr lang="en-US" sz="2860" spc="-71">
                <a:solidFill>
                  <a:srgbClr val="3A58E4"/>
                </a:solidFill>
                <a:latin typeface="Poppins" panose="00000500000000000000"/>
                <a:ea typeface="Poppins" panose="00000500000000000000"/>
                <a:cs typeface="Poppins" panose="00000500000000000000"/>
                <a:sym typeface="Poppins" panose="00000500000000000000"/>
              </a:rPr>
              <a:t>Mobile App was the most profitable sales channel, while Marketplace generated the lowest profit because of high platform fees.</a:t>
            </a:r>
            <a:endParaRPr lang="en-US" sz="2860" spc="-71">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7" name="TextBox 17"/>
          <p:cNvSpPr txBox="1"/>
          <p:nvPr/>
        </p:nvSpPr>
        <p:spPr>
          <a:xfrm>
            <a:off x="1870201" y="8504195"/>
            <a:ext cx="12915621" cy="1013196"/>
          </a:xfrm>
          <a:prstGeom prst="rect">
            <a:avLst/>
          </a:prstGeom>
        </p:spPr>
        <p:txBody>
          <a:bodyPr lIns="0" tIns="0" rIns="0" bIns="0" rtlCol="0" anchor="t">
            <a:spAutoFit/>
          </a:bodyPr>
          <a:lstStyle/>
          <a:p>
            <a:pPr marL="0" lvl="0" indent="0" algn="just">
              <a:lnSpc>
                <a:spcPts val="4005"/>
              </a:lnSpc>
            </a:pPr>
            <a:r>
              <a:rPr lang="en-US" sz="2860" spc="-71">
                <a:solidFill>
                  <a:srgbClr val="3A58E4"/>
                </a:solidFill>
                <a:latin typeface="Poppins" panose="00000500000000000000"/>
                <a:ea typeface="Poppins" panose="00000500000000000000"/>
                <a:cs typeface="Poppins" panose="00000500000000000000"/>
                <a:sym typeface="Poppins" panose="00000500000000000000"/>
              </a:rPr>
              <a:t>Returns cause ~$24.98K lost revenue; TikTok Ads and Influencer Marketing deliver strongest ROAS.</a:t>
            </a:r>
            <a:endParaRPr lang="en-US" sz="2860" spc="-71">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8" name="Freeform 18"/>
          <p:cNvSpPr/>
          <p:nvPr/>
        </p:nvSpPr>
        <p:spPr>
          <a:xfrm>
            <a:off x="1076325" y="5143500"/>
            <a:ext cx="618716" cy="618716"/>
          </a:xfrm>
          <a:custGeom>
            <a:avLst/>
            <a:gdLst/>
            <a:ahLst/>
            <a:cxnLst/>
            <a:rect l="l" t="t" r="r" b="b"/>
            <a:pathLst>
              <a:path w="618716" h="618716">
                <a:moveTo>
                  <a:pt x="0" y="0"/>
                </a:moveTo>
                <a:lnTo>
                  <a:pt x="618716" y="0"/>
                </a:lnTo>
                <a:lnTo>
                  <a:pt x="618716" y="618716"/>
                </a:lnTo>
                <a:lnTo>
                  <a:pt x="0" y="6187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9" name="Freeform 19"/>
          <p:cNvSpPr/>
          <p:nvPr/>
        </p:nvSpPr>
        <p:spPr>
          <a:xfrm>
            <a:off x="1076325" y="6279741"/>
            <a:ext cx="585748" cy="585748"/>
          </a:xfrm>
          <a:custGeom>
            <a:avLst/>
            <a:gdLst/>
            <a:ahLst/>
            <a:cxnLst/>
            <a:rect l="l" t="t" r="r" b="b"/>
            <a:pathLst>
              <a:path w="585748" h="585748">
                <a:moveTo>
                  <a:pt x="0" y="0"/>
                </a:moveTo>
                <a:lnTo>
                  <a:pt x="585748" y="0"/>
                </a:lnTo>
                <a:lnTo>
                  <a:pt x="585748" y="585748"/>
                </a:lnTo>
                <a:lnTo>
                  <a:pt x="0" y="58574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0" name="Freeform 20"/>
          <p:cNvSpPr/>
          <p:nvPr/>
        </p:nvSpPr>
        <p:spPr>
          <a:xfrm>
            <a:off x="1028700" y="7446514"/>
            <a:ext cx="558921" cy="558921"/>
          </a:xfrm>
          <a:custGeom>
            <a:avLst/>
            <a:gdLst/>
            <a:ahLst/>
            <a:cxnLst/>
            <a:rect l="l" t="t" r="r" b="b"/>
            <a:pathLst>
              <a:path w="558921" h="558921">
                <a:moveTo>
                  <a:pt x="0" y="0"/>
                </a:moveTo>
                <a:lnTo>
                  <a:pt x="558921" y="0"/>
                </a:lnTo>
                <a:lnTo>
                  <a:pt x="558921" y="558920"/>
                </a:lnTo>
                <a:lnTo>
                  <a:pt x="0" y="55892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21" name="Freeform 21"/>
          <p:cNvSpPr/>
          <p:nvPr/>
        </p:nvSpPr>
        <p:spPr>
          <a:xfrm>
            <a:off x="1052512" y="8580395"/>
            <a:ext cx="609561" cy="609561"/>
          </a:xfrm>
          <a:custGeom>
            <a:avLst/>
            <a:gdLst/>
            <a:ahLst/>
            <a:cxnLst/>
            <a:rect l="l" t="t" r="r" b="b"/>
            <a:pathLst>
              <a:path w="609561" h="609561">
                <a:moveTo>
                  <a:pt x="0" y="0"/>
                </a:moveTo>
                <a:lnTo>
                  <a:pt x="609561" y="0"/>
                </a:lnTo>
                <a:lnTo>
                  <a:pt x="609561" y="609560"/>
                </a:lnTo>
                <a:lnTo>
                  <a:pt x="0" y="60956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943927" y="1848166"/>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TextBox 5"/>
          <p:cNvSpPr txBox="1"/>
          <p:nvPr/>
        </p:nvSpPr>
        <p:spPr>
          <a:xfrm>
            <a:off x="4555359" y="4187895"/>
            <a:ext cx="7929389" cy="326103"/>
          </a:xfrm>
          <a:prstGeom prst="rect">
            <a:avLst/>
          </a:prstGeom>
        </p:spPr>
        <p:txBody>
          <a:bodyPr lIns="0" tIns="0" rIns="0" bIns="0" rtlCol="0" anchor="t">
            <a:spAutoFit/>
          </a:bodyPr>
          <a:lstStyle/>
          <a:p>
            <a:pPr marL="0" lvl="0" indent="0" algn="l">
              <a:lnSpc>
                <a:spcPts val="2500"/>
              </a:lnSpc>
            </a:pPr>
            <a:r>
              <a:rPr lang="en-US" sz="1785" b="1" spc="-44">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STRATEGIES TO REDUCE SHIPPING COSTS AND IMPROVE NET MARGINS</a:t>
            </a:r>
            <a:endParaRPr lang="en-US" sz="1785" b="1" spc="-44">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6" name="Freeform 6"/>
          <p:cNvSpPr/>
          <p:nvPr/>
        </p:nvSpPr>
        <p:spPr>
          <a:xfrm rot="-8687136">
            <a:off x="12175060" y="4130724"/>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rot="0">
            <a:off x="0" y="0"/>
            <a:ext cx="2768649" cy="10287000"/>
            <a:chOff x="0" y="0"/>
            <a:chExt cx="428936" cy="1593725"/>
          </a:xfrm>
        </p:grpSpPr>
        <p:sp>
          <p:nvSpPr>
            <p:cNvPr id="8" name="Freeform 8"/>
            <p:cNvSpPr/>
            <p:nvPr/>
          </p:nvSpPr>
          <p:spPr>
            <a:xfrm>
              <a:off x="0" y="0"/>
              <a:ext cx="428936" cy="1593725"/>
            </a:xfrm>
            <a:custGeom>
              <a:avLst/>
              <a:gdLst/>
              <a:ahLst/>
              <a:cxnLst/>
              <a:rect l="l" t="t" r="r" b="b"/>
              <a:pathLst>
                <a:path w="428936" h="1593725">
                  <a:moveTo>
                    <a:pt x="0" y="0"/>
                  </a:moveTo>
                  <a:lnTo>
                    <a:pt x="428936" y="0"/>
                  </a:lnTo>
                  <a:lnTo>
                    <a:pt x="428936" y="1593725"/>
                  </a:lnTo>
                  <a:lnTo>
                    <a:pt x="0" y="1593725"/>
                  </a:lnTo>
                  <a:close/>
                </a:path>
              </a:pathLst>
            </a:custGeom>
            <a:blipFill>
              <a:blip r:embed="rId3"/>
              <a:stretch>
                <a:fillRect l="-212736" r="-212736"/>
              </a:stretch>
            </a:blipFill>
          </p:spPr>
        </p:sp>
      </p:grpSp>
      <p:grpSp>
        <p:nvGrpSpPr>
          <p:cNvPr id="9" name="Group 9"/>
          <p:cNvGrpSpPr/>
          <p:nvPr/>
        </p:nvGrpSpPr>
        <p:grpSpPr>
          <a:xfrm rot="0">
            <a:off x="16438046" y="290997"/>
            <a:ext cx="1849954" cy="1557169"/>
            <a:chOff x="0" y="0"/>
            <a:chExt cx="2466605" cy="2076226"/>
          </a:xfrm>
        </p:grpSpPr>
        <p:grpSp>
          <p:nvGrpSpPr>
            <p:cNvPr id="10" name="Group 10"/>
            <p:cNvGrpSpPr/>
            <p:nvPr/>
          </p:nvGrpSpPr>
          <p:grpSpPr>
            <a:xfrm rot="0">
              <a:off x="0" y="0"/>
              <a:ext cx="2466605" cy="2076226"/>
              <a:chOff x="0" y="0"/>
              <a:chExt cx="787566" cy="662921"/>
            </a:xfrm>
          </p:grpSpPr>
          <p:sp>
            <p:nvSpPr>
              <p:cNvPr id="11" name="Freeform 11"/>
              <p:cNvSpPr/>
              <p:nvPr/>
            </p:nvSpPr>
            <p:spPr>
              <a:xfrm>
                <a:off x="0" y="0"/>
                <a:ext cx="787566" cy="662921"/>
              </a:xfrm>
              <a:custGeom>
                <a:avLst/>
                <a:gdLst/>
                <a:ahLst/>
                <a:cxnLst/>
                <a:rect l="l" t="t" r="r" b="b"/>
                <a:pathLst>
                  <a:path w="787566" h="662921">
                    <a:moveTo>
                      <a:pt x="0" y="0"/>
                    </a:moveTo>
                    <a:lnTo>
                      <a:pt x="787566" y="0"/>
                    </a:lnTo>
                    <a:lnTo>
                      <a:pt x="787566" y="662921"/>
                    </a:lnTo>
                    <a:lnTo>
                      <a:pt x="0" y="662921"/>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701021"/>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319164" y="665474"/>
              <a:ext cx="1828278" cy="840528"/>
            </a:xfrm>
            <a:prstGeom prst="rect">
              <a:avLst/>
            </a:prstGeom>
          </p:spPr>
          <p:txBody>
            <a:bodyPr lIns="0" tIns="0" rIns="0" bIns="0" rtlCol="0" anchor="t">
              <a:spAutoFit/>
            </a:bodyPr>
            <a:lstStyle/>
            <a:p>
              <a:pPr marL="0" lvl="0" indent="0" algn="ctr">
                <a:lnSpc>
                  <a:spcPts val="4570"/>
                </a:lnSpc>
              </a:pPr>
              <a:r>
                <a:rPr lang="en-US" sz="4665" spc="-298">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11</a:t>
              </a:r>
              <a:endParaRPr lang="en-US" sz="4665" spc="-298">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4" name="AutoShape 14"/>
          <p:cNvSpPr/>
          <p:nvPr/>
        </p:nvSpPr>
        <p:spPr>
          <a:xfrm flipH="1">
            <a:off x="2759124" y="0"/>
            <a:ext cx="0" cy="10287000"/>
          </a:xfrm>
          <a:prstGeom prst="line">
            <a:avLst/>
          </a:prstGeom>
          <a:ln w="19050" cap="rnd">
            <a:solidFill>
              <a:srgbClr val="3A58E4"/>
            </a:solidFill>
            <a:prstDash val="solid"/>
            <a:headEnd type="none" w="sm" len="sm"/>
            <a:tailEnd type="none" w="sm" len="sm"/>
          </a:ln>
        </p:spPr>
      </p:sp>
      <p:sp>
        <p:nvSpPr>
          <p:cNvPr id="15" name="Freeform 15"/>
          <p:cNvSpPr/>
          <p:nvPr/>
        </p:nvSpPr>
        <p:spPr>
          <a:xfrm>
            <a:off x="2768649" y="290997"/>
            <a:ext cx="2350556" cy="457290"/>
          </a:xfrm>
          <a:custGeom>
            <a:avLst/>
            <a:gdLst/>
            <a:ahLst/>
            <a:cxnLst/>
            <a:rect l="l" t="t" r="r" b="b"/>
            <a:pathLst>
              <a:path w="2350556" h="457290">
                <a:moveTo>
                  <a:pt x="0" y="0"/>
                </a:moveTo>
                <a:lnTo>
                  <a:pt x="2350556" y="0"/>
                </a:lnTo>
                <a:lnTo>
                  <a:pt x="2350556" y="457290"/>
                </a:lnTo>
                <a:lnTo>
                  <a:pt x="0" y="457290"/>
                </a:lnTo>
                <a:lnTo>
                  <a:pt x="0" y="0"/>
                </a:lnTo>
                <a:close/>
              </a:path>
            </a:pathLst>
          </a:custGeom>
          <a:blipFill>
            <a:blip r:embed="rId4"/>
            <a:stretch>
              <a:fillRect/>
            </a:stretch>
          </a:blipFill>
        </p:spPr>
      </p:sp>
      <p:sp>
        <p:nvSpPr>
          <p:cNvPr id="16" name="TextBox 16"/>
          <p:cNvSpPr txBox="1"/>
          <p:nvPr/>
        </p:nvSpPr>
        <p:spPr>
          <a:xfrm>
            <a:off x="4555359" y="1728425"/>
            <a:ext cx="5780387" cy="2489701"/>
          </a:xfrm>
          <a:prstGeom prst="rect">
            <a:avLst/>
          </a:prstGeom>
        </p:spPr>
        <p:txBody>
          <a:bodyPr lIns="0" tIns="0" rIns="0" bIns="0" rtlCol="0" anchor="t">
            <a:spAutoFit/>
          </a:bodyPr>
          <a:lstStyle/>
          <a:p>
            <a:pPr marL="0" lvl="0" indent="0" algn="l">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Shipping &amp; Pricing</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7" name="TextBox 17"/>
          <p:cNvSpPr txBox="1"/>
          <p:nvPr/>
        </p:nvSpPr>
        <p:spPr>
          <a:xfrm>
            <a:off x="3943927" y="5218848"/>
            <a:ext cx="14054556" cy="1372848"/>
          </a:xfrm>
          <a:prstGeom prst="rect">
            <a:avLst/>
          </a:prstGeom>
        </p:spPr>
        <p:txBody>
          <a:bodyPr lIns="0" tIns="0" rIns="0" bIns="0" rtlCol="0" anchor="t">
            <a:spAutoFit/>
          </a:bodyPr>
          <a:lstStyle/>
          <a:p>
            <a:pPr marL="0" lvl="0" indent="0" algn="l">
              <a:lnSpc>
                <a:spcPts val="3605"/>
              </a:lnSpc>
            </a:pPr>
            <a:r>
              <a:rPr lang="en-US" sz="2575" spc="-7">
                <a:solidFill>
                  <a:srgbClr val="3A58E4"/>
                </a:solidFill>
                <a:latin typeface="Poppins" panose="00000500000000000000"/>
                <a:ea typeface="Poppins" panose="00000500000000000000"/>
                <a:cs typeface="Poppins" panose="00000500000000000000"/>
                <a:sym typeface="Poppins" panose="00000500000000000000"/>
              </a:rPr>
              <a:t>Books category shows lowest profitability at 11.9% margin, with high shipping costs as the primary driver. These recommendations focus on reducing shipping expenses through strategic negotiations and operational improvements.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4047650" y="6825980"/>
            <a:ext cx="13950833" cy="1830048"/>
          </a:xfrm>
          <a:prstGeom prst="rect">
            <a:avLst/>
          </a:prstGeom>
        </p:spPr>
        <p:txBody>
          <a:bodyPr lIns="0" tIns="0" rIns="0" bIns="0" rtlCol="0" anchor="t">
            <a:spAutoFit/>
          </a:bodyPr>
          <a:lstStyle/>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Negotiate better shipping rates with carriers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Optimize packaging to reduce dimensional weight</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Implement minimum order values for free shipping</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Review pricing for low-margin products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810029" y="1401761"/>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TextBox 5"/>
          <p:cNvSpPr txBox="1"/>
          <p:nvPr/>
        </p:nvSpPr>
        <p:spPr>
          <a:xfrm>
            <a:off x="4113588" y="4107720"/>
            <a:ext cx="8694145" cy="315910"/>
          </a:xfrm>
          <a:prstGeom prst="rect">
            <a:avLst/>
          </a:prstGeom>
        </p:spPr>
        <p:txBody>
          <a:bodyPr lIns="0" tIns="0" rIns="0" bIns="0" rtlCol="0" anchor="t">
            <a:spAutoFit/>
          </a:bodyPr>
          <a:lstStyle/>
          <a:p>
            <a:pPr marL="0" lvl="0" indent="0" algn="l">
              <a:lnSpc>
                <a:spcPts val="2535"/>
              </a:lnSpc>
            </a:pPr>
            <a:r>
              <a:rPr lang="en-US" sz="1810" b="1" spc="-45">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OPTIMIZING CHANNEL MIX AND PLATFORM FEES FOR MAXIMUM PROFITABILITY</a:t>
            </a:r>
            <a:endParaRPr lang="en-US" sz="1810" b="1" spc="-45">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6" name="Freeform 6"/>
          <p:cNvSpPr/>
          <p:nvPr/>
        </p:nvSpPr>
        <p:spPr>
          <a:xfrm rot="-8687136">
            <a:off x="12713158" y="4001724"/>
            <a:ext cx="189150" cy="228643"/>
          </a:xfrm>
          <a:custGeom>
            <a:avLst/>
            <a:gdLst/>
            <a:ahLst/>
            <a:cxnLst/>
            <a:rect l="l" t="t" r="r" b="b"/>
            <a:pathLst>
              <a:path w="189150" h="228643">
                <a:moveTo>
                  <a:pt x="0" y="0"/>
                </a:moveTo>
                <a:lnTo>
                  <a:pt x="189150" y="0"/>
                </a:lnTo>
                <a:lnTo>
                  <a:pt x="189150" y="228643"/>
                </a:lnTo>
                <a:lnTo>
                  <a:pt x="0" y="228643"/>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rot="0">
            <a:off x="0" y="0"/>
            <a:ext cx="2332800" cy="10287000"/>
            <a:chOff x="0" y="0"/>
            <a:chExt cx="361412" cy="1593725"/>
          </a:xfrm>
        </p:grpSpPr>
        <p:sp>
          <p:nvSpPr>
            <p:cNvPr id="8" name="Freeform 8"/>
            <p:cNvSpPr/>
            <p:nvPr/>
          </p:nvSpPr>
          <p:spPr>
            <a:xfrm>
              <a:off x="0" y="0"/>
              <a:ext cx="361412" cy="1593725"/>
            </a:xfrm>
            <a:custGeom>
              <a:avLst/>
              <a:gdLst/>
              <a:ahLst/>
              <a:cxnLst/>
              <a:rect l="l" t="t" r="r" b="b"/>
              <a:pathLst>
                <a:path w="361412" h="1593725">
                  <a:moveTo>
                    <a:pt x="0" y="0"/>
                  </a:moveTo>
                  <a:lnTo>
                    <a:pt x="361412" y="0"/>
                  </a:lnTo>
                  <a:lnTo>
                    <a:pt x="361412" y="1593725"/>
                  </a:lnTo>
                  <a:lnTo>
                    <a:pt x="0" y="1593725"/>
                  </a:lnTo>
                  <a:close/>
                </a:path>
              </a:pathLst>
            </a:custGeom>
            <a:blipFill>
              <a:blip r:embed="rId3"/>
              <a:stretch>
                <a:fillRect l="-85323" r="-85323"/>
              </a:stretch>
            </a:blipFill>
          </p:spPr>
        </p:sp>
      </p:grpSp>
      <p:grpSp>
        <p:nvGrpSpPr>
          <p:cNvPr id="9" name="Group 9"/>
          <p:cNvGrpSpPr/>
          <p:nvPr/>
        </p:nvGrpSpPr>
        <p:grpSpPr>
          <a:xfrm rot="0">
            <a:off x="16438046" y="361572"/>
            <a:ext cx="1849954" cy="1486594"/>
            <a:chOff x="0" y="0"/>
            <a:chExt cx="2466605" cy="1982125"/>
          </a:xfrm>
        </p:grpSpPr>
        <p:grpSp>
          <p:nvGrpSpPr>
            <p:cNvPr id="10" name="Group 10"/>
            <p:cNvGrpSpPr/>
            <p:nvPr/>
          </p:nvGrpSpPr>
          <p:grpSpPr>
            <a:xfrm rot="0">
              <a:off x="0" y="0"/>
              <a:ext cx="2466605" cy="1982125"/>
              <a:chOff x="0" y="0"/>
              <a:chExt cx="787566" cy="632875"/>
            </a:xfrm>
          </p:grpSpPr>
          <p:sp>
            <p:nvSpPr>
              <p:cNvPr id="11" name="Freeform 11"/>
              <p:cNvSpPr/>
              <p:nvPr/>
            </p:nvSpPr>
            <p:spPr>
              <a:xfrm>
                <a:off x="0" y="0"/>
                <a:ext cx="787566" cy="632875"/>
              </a:xfrm>
              <a:custGeom>
                <a:avLst/>
                <a:gdLst/>
                <a:ahLst/>
                <a:cxnLst/>
                <a:rect l="l" t="t" r="r" b="b"/>
                <a:pathLst>
                  <a:path w="787566" h="632875">
                    <a:moveTo>
                      <a:pt x="0" y="0"/>
                    </a:moveTo>
                    <a:lnTo>
                      <a:pt x="787566" y="0"/>
                    </a:lnTo>
                    <a:lnTo>
                      <a:pt x="787566" y="632875"/>
                    </a:lnTo>
                    <a:lnTo>
                      <a:pt x="0" y="632875"/>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670975"/>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319164" y="646424"/>
              <a:ext cx="1828278" cy="765477"/>
            </a:xfrm>
            <a:prstGeom prst="rect">
              <a:avLst/>
            </a:prstGeom>
          </p:spPr>
          <p:txBody>
            <a:bodyPr lIns="0" tIns="0" rIns="0" bIns="0" rtlCol="0" anchor="t">
              <a:spAutoFit/>
            </a:bodyPr>
            <a:lstStyle/>
            <a:p>
              <a:pPr marL="0" lvl="0" indent="0" algn="ctr">
                <a:lnSpc>
                  <a:spcPts val="4100"/>
                </a:lnSpc>
              </a:pPr>
              <a:r>
                <a:rPr lang="en-US" sz="4185" spc="-26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12</a:t>
              </a:r>
              <a:endParaRPr lang="en-US" sz="4185" spc="-26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4" name="AutoShape 14"/>
          <p:cNvSpPr/>
          <p:nvPr/>
        </p:nvSpPr>
        <p:spPr>
          <a:xfrm flipH="1">
            <a:off x="2323275" y="0"/>
            <a:ext cx="0" cy="10287000"/>
          </a:xfrm>
          <a:prstGeom prst="line">
            <a:avLst/>
          </a:prstGeom>
          <a:ln w="19050" cap="rnd">
            <a:solidFill>
              <a:srgbClr val="3A58E4"/>
            </a:solidFill>
            <a:prstDash val="solid"/>
            <a:headEnd type="none" w="sm" len="sm"/>
            <a:tailEnd type="none" w="sm" len="sm"/>
          </a:ln>
        </p:spPr>
      </p:sp>
      <p:sp>
        <p:nvSpPr>
          <p:cNvPr id="15" name="Freeform 15"/>
          <p:cNvSpPr/>
          <p:nvPr/>
        </p:nvSpPr>
        <p:spPr>
          <a:xfrm>
            <a:off x="2794791" y="571410"/>
            <a:ext cx="2350556" cy="457290"/>
          </a:xfrm>
          <a:custGeom>
            <a:avLst/>
            <a:gdLst/>
            <a:ahLst/>
            <a:cxnLst/>
            <a:rect l="l" t="t" r="r" b="b"/>
            <a:pathLst>
              <a:path w="2350556" h="457290">
                <a:moveTo>
                  <a:pt x="0" y="0"/>
                </a:moveTo>
                <a:lnTo>
                  <a:pt x="2350556" y="0"/>
                </a:lnTo>
                <a:lnTo>
                  <a:pt x="2350556" y="457290"/>
                </a:lnTo>
                <a:lnTo>
                  <a:pt x="0" y="457290"/>
                </a:lnTo>
                <a:lnTo>
                  <a:pt x="0" y="0"/>
                </a:lnTo>
                <a:close/>
              </a:path>
            </a:pathLst>
          </a:custGeom>
          <a:blipFill>
            <a:blip r:embed="rId4"/>
            <a:stretch>
              <a:fillRect/>
            </a:stretch>
          </a:blipFill>
        </p:spPr>
      </p:sp>
      <p:grpSp>
        <p:nvGrpSpPr>
          <p:cNvPr id="16" name="Group 16"/>
          <p:cNvGrpSpPr/>
          <p:nvPr/>
        </p:nvGrpSpPr>
        <p:grpSpPr>
          <a:xfrm rot="0">
            <a:off x="1247265" y="3582499"/>
            <a:ext cx="2152019" cy="2149322"/>
            <a:chOff x="0" y="0"/>
            <a:chExt cx="567580" cy="566868"/>
          </a:xfrm>
        </p:grpSpPr>
        <p:sp>
          <p:nvSpPr>
            <p:cNvPr id="17" name="Freeform 17"/>
            <p:cNvSpPr/>
            <p:nvPr/>
          </p:nvSpPr>
          <p:spPr>
            <a:xfrm>
              <a:off x="0" y="0"/>
              <a:ext cx="567580" cy="566868"/>
            </a:xfrm>
            <a:custGeom>
              <a:avLst/>
              <a:gdLst/>
              <a:ahLst/>
              <a:cxnLst/>
              <a:rect l="l" t="t" r="r" b="b"/>
              <a:pathLst>
                <a:path w="567580" h="566868">
                  <a:moveTo>
                    <a:pt x="161888" y="0"/>
                  </a:moveTo>
                  <a:lnTo>
                    <a:pt x="405691" y="0"/>
                  </a:lnTo>
                  <a:cubicBezTo>
                    <a:pt x="495100" y="0"/>
                    <a:pt x="567580" y="72480"/>
                    <a:pt x="567580" y="161888"/>
                  </a:cubicBezTo>
                  <a:lnTo>
                    <a:pt x="567580" y="404980"/>
                  </a:lnTo>
                  <a:cubicBezTo>
                    <a:pt x="567580" y="494389"/>
                    <a:pt x="495100" y="566868"/>
                    <a:pt x="405691" y="566868"/>
                  </a:cubicBezTo>
                  <a:lnTo>
                    <a:pt x="161888" y="566868"/>
                  </a:lnTo>
                  <a:cubicBezTo>
                    <a:pt x="72480" y="566868"/>
                    <a:pt x="0" y="494389"/>
                    <a:pt x="0" y="404980"/>
                  </a:cubicBezTo>
                  <a:lnTo>
                    <a:pt x="0" y="161888"/>
                  </a:lnTo>
                  <a:cubicBezTo>
                    <a:pt x="0" y="72480"/>
                    <a:pt x="72480" y="0"/>
                    <a:pt x="161888" y="0"/>
                  </a:cubicBezTo>
                  <a:close/>
                </a:path>
              </a:pathLst>
            </a:custGeom>
            <a:gradFill rotWithShape="1">
              <a:gsLst>
                <a:gs pos="0">
                  <a:srgbClr val="293E9C">
                    <a:alpha val="100000"/>
                  </a:srgbClr>
                </a:gs>
                <a:gs pos="100000">
                  <a:srgbClr val="3A58E4">
                    <a:alpha val="100000"/>
                  </a:srgbClr>
                </a:gs>
              </a:gsLst>
              <a:path path="circle">
                <a:fillToRect r="100000" b="100000"/>
              </a:path>
              <a:tileRect l="-100000" t="-100000"/>
            </a:gradFill>
            <a:ln cap="rnd">
              <a:noFill/>
              <a:prstDash val="solid"/>
              <a:round/>
            </a:ln>
          </p:spPr>
        </p:sp>
        <p:sp>
          <p:nvSpPr>
            <p:cNvPr id="18" name="TextBox 18"/>
            <p:cNvSpPr txBox="1"/>
            <p:nvPr/>
          </p:nvSpPr>
          <p:spPr>
            <a:xfrm>
              <a:off x="0" y="28575"/>
              <a:ext cx="567580" cy="538293"/>
            </a:xfrm>
            <a:prstGeom prst="rect">
              <a:avLst/>
            </a:prstGeom>
          </p:spPr>
          <p:txBody>
            <a:bodyPr lIns="48445" tIns="48445" rIns="48445" bIns="48445" rtlCol="0" anchor="ctr"/>
            <a:lstStyle/>
            <a:p>
              <a:pPr marL="0" lvl="0" indent="0" algn="ctr">
                <a:lnSpc>
                  <a:spcPts val="2460"/>
                </a:lnSpc>
              </a:pPr>
            </a:p>
          </p:txBody>
        </p:sp>
      </p:grpSp>
      <p:sp>
        <p:nvSpPr>
          <p:cNvPr id="19" name="TextBox 19"/>
          <p:cNvSpPr txBox="1"/>
          <p:nvPr/>
        </p:nvSpPr>
        <p:spPr>
          <a:xfrm>
            <a:off x="1582825" y="4202970"/>
            <a:ext cx="1499950" cy="306253"/>
          </a:xfrm>
          <a:prstGeom prst="rect">
            <a:avLst/>
          </a:prstGeom>
        </p:spPr>
        <p:txBody>
          <a:bodyPr lIns="0" tIns="0" rIns="0" bIns="0" rtlCol="0" anchor="t">
            <a:spAutoFit/>
          </a:bodyPr>
          <a:lstStyle/>
          <a:p>
            <a:pPr marL="0" lvl="0" indent="0" algn="ctr">
              <a:lnSpc>
                <a:spcPts val="2345"/>
              </a:lnSpc>
            </a:pPr>
            <a:r>
              <a:rPr lang="en-US" sz="2370" b="1" spc="-71">
                <a:solidFill>
                  <a:srgbClr val="FFFFFF"/>
                </a:solidFill>
                <a:latin typeface="Bricolage Grotesque Bold" panose="020B0605040402000204"/>
                <a:ea typeface="Bricolage Grotesque Bold" panose="020B0605040402000204"/>
                <a:cs typeface="Bricolage Grotesque Bold" panose="020B0605040402000204"/>
                <a:sym typeface="Bricolage Grotesque Bold" panose="020B0605040402000204"/>
              </a:rPr>
              <a:t>Key Focus</a:t>
            </a:r>
            <a:endParaRPr lang="en-US" sz="2370" b="1" spc="-71">
              <a:solidFill>
                <a:srgbClr val="FFFFFF"/>
              </a:solidFill>
              <a:latin typeface="Bricolage Grotesque Bold" panose="020B0605040402000204"/>
              <a:ea typeface="Bricolage Grotesque Bold" panose="020B0605040402000204"/>
              <a:cs typeface="Bricolage Grotesque Bold" panose="020B0605040402000204"/>
              <a:sym typeface="Bricolage Grotesque Bold" panose="020B0605040402000204"/>
            </a:endParaRPr>
          </a:p>
        </p:txBody>
      </p:sp>
      <p:sp>
        <p:nvSpPr>
          <p:cNvPr id="20" name="TextBox 20"/>
          <p:cNvSpPr txBox="1"/>
          <p:nvPr/>
        </p:nvSpPr>
        <p:spPr>
          <a:xfrm>
            <a:off x="1582825" y="4603040"/>
            <a:ext cx="1211966" cy="417195"/>
          </a:xfrm>
          <a:prstGeom prst="rect">
            <a:avLst/>
          </a:prstGeom>
        </p:spPr>
        <p:txBody>
          <a:bodyPr lIns="0" tIns="0" rIns="0" bIns="0" rtlCol="0" anchor="t">
            <a:spAutoFit/>
          </a:bodyPr>
          <a:lstStyle/>
          <a:p>
            <a:pPr marL="0" lvl="0" indent="0" algn="ctr">
              <a:lnSpc>
                <a:spcPts val="1680"/>
              </a:lnSpc>
            </a:pPr>
            <a:r>
              <a:rPr lang="en-US" sz="1200" spc="-29">
                <a:solidFill>
                  <a:srgbClr val="FFFFFF"/>
                </a:solidFill>
                <a:latin typeface="Poppins" panose="00000500000000000000"/>
                <a:ea typeface="Poppins" panose="00000500000000000000"/>
                <a:cs typeface="Poppins" panose="00000500000000000000"/>
                <a:sym typeface="Poppins" panose="00000500000000000000"/>
              </a:rPr>
              <a:t>STRATEGIC ACTIONS</a:t>
            </a:r>
            <a:endParaRPr lang="en-US" sz="1200" spc="-29">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21" name="TextBox 21"/>
          <p:cNvSpPr txBox="1"/>
          <p:nvPr/>
        </p:nvSpPr>
        <p:spPr>
          <a:xfrm>
            <a:off x="4191058" y="952281"/>
            <a:ext cx="5780387" cy="2037294"/>
          </a:xfrm>
          <a:prstGeom prst="rect">
            <a:avLst/>
          </a:prstGeom>
        </p:spPr>
        <p:txBody>
          <a:bodyPr lIns="0" tIns="0" rIns="0" bIns="0" rtlCol="0" anchor="t">
            <a:spAutoFit/>
          </a:bodyPr>
          <a:lstStyle/>
          <a:p>
            <a:pPr marL="0" lvl="0" indent="0" algn="l">
              <a:lnSpc>
                <a:spcPts val="7785"/>
              </a:lnSpc>
            </a:pPr>
            <a:r>
              <a:rPr lang="en-US" sz="7945" spc="-508">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Sales Channel Strategy</a:t>
            </a:r>
            <a:endParaRPr lang="en-US" sz="7945" spc="-508">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22" name="TextBox 22"/>
          <p:cNvSpPr txBox="1"/>
          <p:nvPr/>
        </p:nvSpPr>
        <p:spPr>
          <a:xfrm>
            <a:off x="3970069" y="5145162"/>
            <a:ext cx="11847811" cy="1830048"/>
          </a:xfrm>
          <a:prstGeom prst="rect">
            <a:avLst/>
          </a:prstGeom>
        </p:spPr>
        <p:txBody>
          <a:bodyPr lIns="0" tIns="0" rIns="0" bIns="0" rtlCol="0" anchor="t">
            <a:spAutoFit/>
          </a:bodyPr>
          <a:lstStyle/>
          <a:p>
            <a:pPr marL="0" lvl="0" indent="0" algn="just">
              <a:lnSpc>
                <a:spcPts val="3605"/>
              </a:lnSpc>
            </a:pPr>
            <a:r>
              <a:rPr lang="en-US" sz="2575" spc="-7">
                <a:solidFill>
                  <a:srgbClr val="3A58E4"/>
                </a:solidFill>
                <a:latin typeface="Poppins" panose="00000500000000000000"/>
                <a:ea typeface="Poppins" panose="00000500000000000000"/>
                <a:cs typeface="Poppins" panose="00000500000000000000"/>
                <a:sym typeface="Poppins" panose="00000500000000000000"/>
              </a:rPr>
              <a:t>Our analysis reveals that Website and Mobile App channels deliver significantly higher margins than Marketplace. The key is to shift resource allocation toward these high-performing channels while addressing the structural cost challenges of Marketplace operations.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23" name="TextBox 23"/>
          <p:cNvSpPr txBox="1"/>
          <p:nvPr/>
        </p:nvSpPr>
        <p:spPr>
          <a:xfrm>
            <a:off x="3899244" y="7260960"/>
            <a:ext cx="11632256" cy="1830048"/>
          </a:xfrm>
          <a:prstGeom prst="rect">
            <a:avLst/>
          </a:prstGeom>
        </p:spPr>
        <p:txBody>
          <a:bodyPr lIns="0" tIns="0" rIns="0" bIns="0" rtlCol="0" anchor="t">
            <a:spAutoFit/>
          </a:bodyPr>
          <a:lstStyle/>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Focus marketing efforts on Website and Mobile App channels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Review and renegotiate Marketplace platform fees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Explore bundled pricing strategies to offset Marketplace costs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Develop channel-specific promotions for lowest-margin products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649290" y="2106995"/>
            <a:ext cx="47625" cy="2040668"/>
            <a:chOff x="0" y="0"/>
            <a:chExt cx="12543" cy="537460"/>
          </a:xfrm>
        </p:grpSpPr>
        <p:sp>
          <p:nvSpPr>
            <p:cNvPr id="3" name="Freeform 3"/>
            <p:cNvSpPr/>
            <p:nvPr/>
          </p:nvSpPr>
          <p:spPr>
            <a:xfrm>
              <a:off x="0" y="0"/>
              <a:ext cx="12543" cy="537460"/>
            </a:xfrm>
            <a:custGeom>
              <a:avLst/>
              <a:gdLst/>
              <a:ahLst/>
              <a:cxnLst/>
              <a:rect l="l" t="t" r="r" b="b"/>
              <a:pathLst>
                <a:path w="12543" h="537460">
                  <a:moveTo>
                    <a:pt x="0" y="0"/>
                  </a:moveTo>
                  <a:lnTo>
                    <a:pt x="12543" y="0"/>
                  </a:lnTo>
                  <a:lnTo>
                    <a:pt x="12543" y="537460"/>
                  </a:lnTo>
                  <a:lnTo>
                    <a:pt x="0" y="537460"/>
                  </a:lnTo>
                  <a:close/>
                </a:path>
              </a:pathLst>
            </a:custGeom>
            <a:solidFill>
              <a:srgbClr val="3A58E4"/>
            </a:solidFill>
          </p:spPr>
        </p:sp>
        <p:sp>
          <p:nvSpPr>
            <p:cNvPr id="4" name="TextBox 4"/>
            <p:cNvSpPr txBox="1"/>
            <p:nvPr/>
          </p:nvSpPr>
          <p:spPr>
            <a:xfrm>
              <a:off x="0" y="-38100"/>
              <a:ext cx="12543" cy="575560"/>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TextBox 5"/>
          <p:cNvSpPr txBox="1"/>
          <p:nvPr/>
        </p:nvSpPr>
        <p:spPr>
          <a:xfrm>
            <a:off x="4288991" y="4601064"/>
            <a:ext cx="7106119" cy="350915"/>
          </a:xfrm>
          <a:prstGeom prst="rect">
            <a:avLst/>
          </a:prstGeom>
        </p:spPr>
        <p:txBody>
          <a:bodyPr lIns="0" tIns="0" rIns="0" bIns="0" rtlCol="0" anchor="t">
            <a:spAutoFit/>
          </a:bodyPr>
          <a:lstStyle/>
          <a:p>
            <a:pPr marL="0" lvl="0" indent="0" algn="l">
              <a:lnSpc>
                <a:spcPts val="2710"/>
              </a:lnSpc>
            </a:pPr>
            <a:r>
              <a:rPr lang="en-US" sz="1935" b="1" spc="-48">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STRATEGIES TO MINIMIZE RETURNS IMPACT ON NET MARGINS</a:t>
            </a:r>
            <a:endParaRPr lang="en-US" sz="1935" b="1" spc="-48">
              <a:gradFill>
                <a:gsLst>
                  <a:gs pos="0">
                    <a:srgbClr val="3A58E4">
                      <a:alpha val="100000"/>
                    </a:srgbClr>
                  </a:gs>
                  <a:gs pos="100000">
                    <a:srgbClr val="293E9C">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6" name="Freeform 6"/>
          <p:cNvSpPr/>
          <p:nvPr/>
        </p:nvSpPr>
        <p:spPr>
          <a:xfrm rot="-8687136">
            <a:off x="11443725" y="4542838"/>
            <a:ext cx="189150" cy="228643"/>
          </a:xfrm>
          <a:custGeom>
            <a:avLst/>
            <a:gdLst/>
            <a:ahLst/>
            <a:cxnLst/>
            <a:rect l="l" t="t" r="r" b="b"/>
            <a:pathLst>
              <a:path w="189150" h="228643">
                <a:moveTo>
                  <a:pt x="0" y="0"/>
                </a:moveTo>
                <a:lnTo>
                  <a:pt x="189150" y="0"/>
                </a:lnTo>
                <a:lnTo>
                  <a:pt x="189150" y="228644"/>
                </a:lnTo>
                <a:lnTo>
                  <a:pt x="0" y="228644"/>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7" name="Group 7"/>
          <p:cNvGrpSpPr/>
          <p:nvPr/>
        </p:nvGrpSpPr>
        <p:grpSpPr>
          <a:xfrm rot="0">
            <a:off x="0" y="0"/>
            <a:ext cx="2290942" cy="10287000"/>
            <a:chOff x="0" y="0"/>
            <a:chExt cx="354927" cy="1593725"/>
          </a:xfrm>
        </p:grpSpPr>
        <p:sp>
          <p:nvSpPr>
            <p:cNvPr id="8" name="Freeform 8"/>
            <p:cNvSpPr/>
            <p:nvPr/>
          </p:nvSpPr>
          <p:spPr>
            <a:xfrm>
              <a:off x="0" y="0"/>
              <a:ext cx="354927" cy="1593725"/>
            </a:xfrm>
            <a:custGeom>
              <a:avLst/>
              <a:gdLst/>
              <a:ahLst/>
              <a:cxnLst/>
              <a:rect l="l" t="t" r="r" b="b"/>
              <a:pathLst>
                <a:path w="354927" h="1593725">
                  <a:moveTo>
                    <a:pt x="0" y="0"/>
                  </a:moveTo>
                  <a:lnTo>
                    <a:pt x="354927" y="0"/>
                  </a:lnTo>
                  <a:lnTo>
                    <a:pt x="354927" y="1593725"/>
                  </a:lnTo>
                  <a:lnTo>
                    <a:pt x="0" y="1593725"/>
                  </a:lnTo>
                  <a:close/>
                </a:path>
              </a:pathLst>
            </a:custGeom>
            <a:blipFill>
              <a:blip r:embed="rId3"/>
              <a:stretch>
                <a:fillRect l="-267522" r="-267522"/>
              </a:stretch>
            </a:blipFill>
          </p:spPr>
        </p:sp>
      </p:grpSp>
      <p:grpSp>
        <p:nvGrpSpPr>
          <p:cNvPr id="9" name="Group 9"/>
          <p:cNvGrpSpPr/>
          <p:nvPr/>
        </p:nvGrpSpPr>
        <p:grpSpPr>
          <a:xfrm rot="0">
            <a:off x="16438046" y="186093"/>
            <a:ext cx="1849954" cy="1662074"/>
            <a:chOff x="0" y="0"/>
            <a:chExt cx="2466605" cy="2216098"/>
          </a:xfrm>
        </p:grpSpPr>
        <p:grpSp>
          <p:nvGrpSpPr>
            <p:cNvPr id="10" name="Group 10"/>
            <p:cNvGrpSpPr/>
            <p:nvPr/>
          </p:nvGrpSpPr>
          <p:grpSpPr>
            <a:xfrm rot="0">
              <a:off x="0" y="0"/>
              <a:ext cx="2466605" cy="2216098"/>
              <a:chOff x="0" y="0"/>
              <a:chExt cx="787566" cy="707581"/>
            </a:xfrm>
          </p:grpSpPr>
          <p:sp>
            <p:nvSpPr>
              <p:cNvPr id="11" name="Freeform 11"/>
              <p:cNvSpPr/>
              <p:nvPr/>
            </p:nvSpPr>
            <p:spPr>
              <a:xfrm>
                <a:off x="0" y="0"/>
                <a:ext cx="787566" cy="707581"/>
              </a:xfrm>
              <a:custGeom>
                <a:avLst/>
                <a:gdLst/>
                <a:ahLst/>
                <a:cxnLst/>
                <a:rect l="l" t="t" r="r" b="b"/>
                <a:pathLst>
                  <a:path w="787566" h="707581">
                    <a:moveTo>
                      <a:pt x="0" y="0"/>
                    </a:moveTo>
                    <a:lnTo>
                      <a:pt x="787566" y="0"/>
                    </a:lnTo>
                    <a:lnTo>
                      <a:pt x="787566" y="707581"/>
                    </a:lnTo>
                    <a:lnTo>
                      <a:pt x="0" y="707581"/>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12" name="TextBox 12"/>
              <p:cNvSpPr txBox="1"/>
              <p:nvPr/>
            </p:nvSpPr>
            <p:spPr>
              <a:xfrm>
                <a:off x="0" y="-38100"/>
                <a:ext cx="787566" cy="745681"/>
              </a:xfrm>
              <a:prstGeom prst="rect">
                <a:avLst/>
              </a:prstGeom>
            </p:spPr>
            <p:txBody>
              <a:bodyPr lIns="50800" tIns="50800" rIns="50800" bIns="50800" rtlCol="0" anchor="ctr"/>
              <a:lstStyle/>
              <a:p>
                <a:pPr marL="0" lvl="0" indent="0" algn="ctr">
                  <a:lnSpc>
                    <a:spcPts val="2660"/>
                  </a:lnSpc>
                  <a:spcBef>
                    <a:spcPct val="0"/>
                  </a:spcBef>
                </a:pPr>
              </a:p>
            </p:txBody>
          </p:sp>
        </p:grpSp>
        <p:sp>
          <p:nvSpPr>
            <p:cNvPr id="13" name="TextBox 13"/>
            <p:cNvSpPr txBox="1"/>
            <p:nvPr/>
          </p:nvSpPr>
          <p:spPr>
            <a:xfrm>
              <a:off x="319164" y="674999"/>
              <a:ext cx="1828278" cy="970875"/>
            </a:xfrm>
            <a:prstGeom prst="rect">
              <a:avLst/>
            </a:prstGeom>
          </p:spPr>
          <p:txBody>
            <a:bodyPr lIns="0" tIns="0" rIns="0" bIns="0" rtlCol="0" anchor="t">
              <a:spAutoFit/>
            </a:bodyPr>
            <a:lstStyle/>
            <a:p>
              <a:pPr marL="0" lvl="0" indent="0" algn="ctr">
                <a:lnSpc>
                  <a:spcPts val="5245"/>
                </a:lnSpc>
              </a:pPr>
              <a:r>
                <a:rPr lang="en-US" sz="5350" spc="-342">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02</a:t>
              </a:r>
              <a:endParaRPr lang="en-US" sz="5350" spc="-342">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4" name="AutoShape 14"/>
          <p:cNvSpPr/>
          <p:nvPr/>
        </p:nvSpPr>
        <p:spPr>
          <a:xfrm flipH="1">
            <a:off x="2481442" y="-283605"/>
            <a:ext cx="0" cy="10287000"/>
          </a:xfrm>
          <a:prstGeom prst="line">
            <a:avLst/>
          </a:prstGeom>
          <a:ln w="19050" cap="rnd">
            <a:solidFill>
              <a:srgbClr val="3A58E4"/>
            </a:solidFill>
            <a:prstDash val="solid"/>
            <a:headEnd type="none" w="sm" len="sm"/>
            <a:tailEnd type="none" w="sm" len="sm"/>
          </a:ln>
        </p:spPr>
      </p:sp>
      <p:sp>
        <p:nvSpPr>
          <p:cNvPr id="15" name="Freeform 15"/>
          <p:cNvSpPr/>
          <p:nvPr/>
        </p:nvSpPr>
        <p:spPr>
          <a:xfrm>
            <a:off x="2852490" y="571410"/>
            <a:ext cx="2350556" cy="457290"/>
          </a:xfrm>
          <a:custGeom>
            <a:avLst/>
            <a:gdLst/>
            <a:ahLst/>
            <a:cxnLst/>
            <a:rect l="l" t="t" r="r" b="b"/>
            <a:pathLst>
              <a:path w="2350556" h="457290">
                <a:moveTo>
                  <a:pt x="0" y="0"/>
                </a:moveTo>
                <a:lnTo>
                  <a:pt x="2350556" y="0"/>
                </a:lnTo>
                <a:lnTo>
                  <a:pt x="2350556" y="457290"/>
                </a:lnTo>
                <a:lnTo>
                  <a:pt x="0" y="457290"/>
                </a:lnTo>
                <a:lnTo>
                  <a:pt x="0" y="0"/>
                </a:lnTo>
                <a:close/>
              </a:path>
            </a:pathLst>
          </a:custGeom>
          <a:blipFill>
            <a:blip r:embed="rId4"/>
            <a:stretch>
              <a:fillRect/>
            </a:stretch>
          </a:blipFill>
        </p:spPr>
      </p:sp>
      <p:sp>
        <p:nvSpPr>
          <p:cNvPr id="16" name="TextBox 16"/>
          <p:cNvSpPr txBox="1"/>
          <p:nvPr/>
        </p:nvSpPr>
        <p:spPr>
          <a:xfrm>
            <a:off x="4288991" y="2019523"/>
            <a:ext cx="5780387" cy="2489701"/>
          </a:xfrm>
          <a:prstGeom prst="rect">
            <a:avLst/>
          </a:prstGeom>
        </p:spPr>
        <p:txBody>
          <a:bodyPr lIns="0" tIns="0" rIns="0" bIns="0" rtlCol="0" anchor="t">
            <a:spAutoFit/>
          </a:bodyPr>
          <a:lstStyle/>
          <a:p>
            <a:pPr marL="0" lvl="0" indent="0" algn="l">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Returns Reduction</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7" name="TextBox 17"/>
          <p:cNvSpPr txBox="1"/>
          <p:nvPr/>
        </p:nvSpPr>
        <p:spPr>
          <a:xfrm>
            <a:off x="3382938" y="5419804"/>
            <a:ext cx="12725508" cy="1372848"/>
          </a:xfrm>
          <a:prstGeom prst="rect">
            <a:avLst/>
          </a:prstGeom>
        </p:spPr>
        <p:txBody>
          <a:bodyPr lIns="0" tIns="0" rIns="0" bIns="0" rtlCol="0" anchor="t">
            <a:spAutoFit/>
          </a:bodyPr>
          <a:lstStyle/>
          <a:p>
            <a:pPr marL="0" lvl="0" indent="0" algn="just">
              <a:lnSpc>
                <a:spcPts val="3605"/>
              </a:lnSpc>
            </a:pPr>
            <a:r>
              <a:rPr lang="en-US" sz="2575" spc="-7">
                <a:solidFill>
                  <a:srgbClr val="3A58E4"/>
                </a:solidFill>
                <a:latin typeface="Poppins" panose="00000500000000000000"/>
                <a:ea typeface="Poppins" panose="00000500000000000000"/>
                <a:cs typeface="Poppins" panose="00000500000000000000"/>
                <a:sym typeface="Poppins" panose="00000500000000000000"/>
              </a:rPr>
              <a:t>Electronics and Books show the highest return rates, contributing to margin pressure. Targeted improvements in product quality, descriptions, and customer experience can significantly reduce returns and protect profitability.</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8" name="TextBox 18"/>
          <p:cNvSpPr txBox="1"/>
          <p:nvPr/>
        </p:nvSpPr>
        <p:spPr>
          <a:xfrm>
            <a:off x="3092372" y="7260477"/>
            <a:ext cx="10663626" cy="1830048"/>
          </a:xfrm>
          <a:prstGeom prst="rect">
            <a:avLst/>
          </a:prstGeom>
        </p:spPr>
        <p:txBody>
          <a:bodyPr lIns="0" tIns="0" rIns="0" bIns="0" rtlCol="0" anchor="t">
            <a:spAutoFit/>
          </a:bodyPr>
          <a:lstStyle/>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Investigate root causes of returns in Electronics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Enhance product descriptions and customer reviews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Improve packaging quality for Books category</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a:p>
            <a:pPr marL="556260" lvl="1" indent="-278130" algn="l">
              <a:lnSpc>
                <a:spcPts val="3605"/>
              </a:lnSpc>
              <a:buFont typeface="Arial" panose="020B0604020202020204"/>
              <a:buChar char="•"/>
            </a:pPr>
            <a:r>
              <a:rPr lang="en-US" sz="2575" spc="-7">
                <a:solidFill>
                  <a:srgbClr val="3A58E4"/>
                </a:solidFill>
                <a:latin typeface="Poppins" panose="00000500000000000000"/>
                <a:ea typeface="Poppins" panose="00000500000000000000"/>
                <a:cs typeface="Poppins" panose="00000500000000000000"/>
                <a:sym typeface="Poppins" panose="00000500000000000000"/>
              </a:rPr>
              <a:t>Address Social Commerce return issues</a:t>
            </a:r>
            <a:endParaRPr lang="en-US" sz="2575" spc="-7">
              <a:solidFill>
                <a:srgbClr val="3A58E4"/>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0" y="0"/>
            <a:ext cx="3306104" cy="10287000"/>
            <a:chOff x="0" y="0"/>
            <a:chExt cx="870744" cy="2709333"/>
          </a:xfrm>
        </p:grpSpPr>
        <p:sp>
          <p:nvSpPr>
            <p:cNvPr id="3" name="Freeform 3"/>
            <p:cNvSpPr/>
            <p:nvPr/>
          </p:nvSpPr>
          <p:spPr>
            <a:xfrm>
              <a:off x="0" y="0"/>
              <a:ext cx="870744" cy="2709333"/>
            </a:xfrm>
            <a:custGeom>
              <a:avLst/>
              <a:gdLst/>
              <a:ahLst/>
              <a:cxnLst/>
              <a:rect l="l" t="t" r="r" b="b"/>
              <a:pathLst>
                <a:path w="870744" h="2709333">
                  <a:moveTo>
                    <a:pt x="0" y="0"/>
                  </a:moveTo>
                  <a:lnTo>
                    <a:pt x="870744" y="0"/>
                  </a:lnTo>
                  <a:lnTo>
                    <a:pt x="870744" y="2709333"/>
                  </a:lnTo>
                  <a:lnTo>
                    <a:pt x="0" y="2709333"/>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4" name="TextBox 4"/>
            <p:cNvSpPr txBox="1"/>
            <p:nvPr/>
          </p:nvSpPr>
          <p:spPr>
            <a:xfrm>
              <a:off x="0" y="-38100"/>
              <a:ext cx="870744" cy="2747433"/>
            </a:xfrm>
            <a:prstGeom prst="rect">
              <a:avLst/>
            </a:prstGeom>
          </p:spPr>
          <p:txBody>
            <a:bodyPr lIns="50800" tIns="50800" rIns="50800" bIns="50800" rtlCol="0" anchor="ctr"/>
            <a:lstStyle/>
            <a:p>
              <a:pPr marL="0" lvl="0" indent="0" algn="ctr">
                <a:lnSpc>
                  <a:spcPts val="2660"/>
                </a:lnSpc>
                <a:spcBef>
                  <a:spcPct val="0"/>
                </a:spcBef>
              </a:pPr>
            </a:p>
          </p:txBody>
        </p:sp>
      </p:grpSp>
      <p:sp>
        <p:nvSpPr>
          <p:cNvPr id="5" name="Freeform 5"/>
          <p:cNvSpPr/>
          <p:nvPr/>
        </p:nvSpPr>
        <p:spPr>
          <a:xfrm>
            <a:off x="3599823" y="206751"/>
            <a:ext cx="3189919" cy="620584"/>
          </a:xfrm>
          <a:custGeom>
            <a:avLst/>
            <a:gdLst/>
            <a:ahLst/>
            <a:cxnLst/>
            <a:rect l="l" t="t" r="r" b="b"/>
            <a:pathLst>
              <a:path w="3189919" h="620584">
                <a:moveTo>
                  <a:pt x="0" y="0"/>
                </a:moveTo>
                <a:lnTo>
                  <a:pt x="3189920" y="0"/>
                </a:lnTo>
                <a:lnTo>
                  <a:pt x="3189920" y="620584"/>
                </a:lnTo>
                <a:lnTo>
                  <a:pt x="0" y="620584"/>
                </a:lnTo>
                <a:lnTo>
                  <a:pt x="0" y="0"/>
                </a:lnTo>
                <a:close/>
              </a:path>
            </a:pathLst>
          </a:custGeom>
          <a:blipFill>
            <a:blip r:embed="rId1"/>
            <a:stretch>
              <a:fillRect/>
            </a:stretch>
          </a:blipFill>
        </p:spPr>
      </p:sp>
      <p:sp>
        <p:nvSpPr>
          <p:cNvPr id="6" name="TextBox 6"/>
          <p:cNvSpPr txBox="1"/>
          <p:nvPr/>
        </p:nvSpPr>
        <p:spPr>
          <a:xfrm>
            <a:off x="353757" y="971550"/>
            <a:ext cx="2193146" cy="782349"/>
          </a:xfrm>
          <a:prstGeom prst="rect">
            <a:avLst/>
          </a:prstGeom>
        </p:spPr>
        <p:txBody>
          <a:bodyPr lIns="0" tIns="0" rIns="0" bIns="0" rtlCol="0" anchor="t">
            <a:spAutoFit/>
          </a:bodyPr>
          <a:lstStyle/>
          <a:p>
            <a:pPr marL="0" lvl="0" indent="0" algn="ctr">
              <a:lnSpc>
                <a:spcPts val="3080"/>
              </a:lnSpc>
            </a:pPr>
            <a:r>
              <a:rPr lang="en-US" sz="2200" spc="-54">
                <a:solidFill>
                  <a:srgbClr val="FFFFFF"/>
                </a:solidFill>
                <a:latin typeface="Poppins" panose="00000500000000000000"/>
                <a:ea typeface="Poppins" panose="00000500000000000000"/>
                <a:cs typeface="Poppins" panose="00000500000000000000"/>
                <a:sym typeface="Poppins" panose="00000500000000000000"/>
              </a:rPr>
              <a:t>ROAS IMPROVEMENT</a:t>
            </a:r>
            <a:endParaRPr lang="en-US" sz="2200" spc="-54">
              <a:solidFill>
                <a:srgbClr val="FFFFFF"/>
              </a:solidFill>
              <a:latin typeface="Poppins" panose="00000500000000000000"/>
              <a:ea typeface="Poppins" panose="00000500000000000000"/>
              <a:cs typeface="Poppins" panose="00000500000000000000"/>
              <a:sym typeface="Poppins" panose="00000500000000000000"/>
            </a:endParaRPr>
          </a:p>
        </p:txBody>
      </p:sp>
      <p:sp>
        <p:nvSpPr>
          <p:cNvPr id="7" name="Freeform 7"/>
          <p:cNvSpPr/>
          <p:nvPr/>
        </p:nvSpPr>
        <p:spPr>
          <a:xfrm>
            <a:off x="1028700" y="2493385"/>
            <a:ext cx="1048918" cy="806713"/>
          </a:xfrm>
          <a:custGeom>
            <a:avLst/>
            <a:gdLst/>
            <a:ahLst/>
            <a:cxnLst/>
            <a:rect l="l" t="t" r="r" b="b"/>
            <a:pathLst>
              <a:path w="1048918" h="806713">
                <a:moveTo>
                  <a:pt x="0" y="0"/>
                </a:moveTo>
                <a:lnTo>
                  <a:pt x="1048918" y="0"/>
                </a:lnTo>
                <a:lnTo>
                  <a:pt x="1048918" y="806713"/>
                </a:lnTo>
                <a:lnTo>
                  <a:pt x="0" y="80671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rot="0">
            <a:off x="4351255" y="3300098"/>
            <a:ext cx="13011380" cy="6014680"/>
            <a:chOff x="0" y="0"/>
            <a:chExt cx="17348507" cy="8019573"/>
          </a:xfrm>
        </p:grpSpPr>
        <p:sp>
          <p:nvSpPr>
            <p:cNvPr id="9" name="TextBox 9"/>
            <p:cNvSpPr txBox="1"/>
            <p:nvPr/>
          </p:nvSpPr>
          <p:spPr>
            <a:xfrm>
              <a:off x="916285" y="-76200"/>
              <a:ext cx="13017586" cy="620126"/>
            </a:xfrm>
            <a:prstGeom prst="rect">
              <a:avLst/>
            </a:prstGeom>
          </p:spPr>
          <p:txBody>
            <a:bodyPr lIns="0" tIns="0" rIns="0" bIns="0" rtlCol="0" anchor="t">
              <a:spAutoFit/>
            </a:bodyPr>
            <a:lstStyle/>
            <a:p>
              <a:pPr marL="0" lvl="0" indent="0" algn="just">
                <a:lnSpc>
                  <a:spcPts val="3765"/>
                </a:lnSpc>
              </a:pPr>
              <a:r>
                <a:rPr lang="en-US" sz="2690" b="1" spc="-67">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BUDGET OPTIMIZATION</a:t>
              </a:r>
              <a:endParaRPr lang="en-US" sz="2690" b="1" spc="-67">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10" name="TextBox 10"/>
            <p:cNvSpPr txBox="1"/>
            <p:nvPr/>
          </p:nvSpPr>
          <p:spPr>
            <a:xfrm>
              <a:off x="916285" y="621834"/>
              <a:ext cx="16432223" cy="1780574"/>
            </a:xfrm>
            <a:prstGeom prst="rect">
              <a:avLst/>
            </a:prstGeom>
          </p:spPr>
          <p:txBody>
            <a:bodyPr lIns="0" tIns="0" rIns="0" bIns="0" rtlCol="0" anchor="t">
              <a:spAutoFit/>
            </a:bodyPr>
            <a:lstStyle/>
            <a:p>
              <a:pPr marL="0" lvl="0" indent="0" algn="just">
                <a:lnSpc>
                  <a:spcPts val="3570"/>
                </a:lnSpc>
              </a:pPr>
              <a:r>
                <a:rPr lang="en-US" sz="2550" spc="-63">
                  <a:solidFill>
                    <a:srgbClr val="3A58E4"/>
                  </a:solidFill>
                  <a:latin typeface="Poppins" panose="00000500000000000000"/>
                  <a:ea typeface="Poppins" panose="00000500000000000000"/>
                  <a:cs typeface="Poppins" panose="00000500000000000000"/>
                  <a:sym typeface="Poppins" panose="00000500000000000000"/>
                </a:rPr>
                <a:t>Total marketing spend: $503.51K. Target 20% reduction (~$100.7K) to improve net margins while maintaining growth. Reallocate from low-ROAS platforms to high-performing channels.</a:t>
              </a:r>
              <a:endParaRPr lang="en-US" sz="2550" spc="-63">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1" name="TextBox 11"/>
            <p:cNvSpPr txBox="1"/>
            <p:nvPr/>
          </p:nvSpPr>
          <p:spPr>
            <a:xfrm>
              <a:off x="790316" y="2806401"/>
              <a:ext cx="13017586" cy="620126"/>
            </a:xfrm>
            <a:prstGeom prst="rect">
              <a:avLst/>
            </a:prstGeom>
          </p:spPr>
          <p:txBody>
            <a:bodyPr lIns="0" tIns="0" rIns="0" bIns="0" rtlCol="0" anchor="t">
              <a:spAutoFit/>
            </a:bodyPr>
            <a:lstStyle/>
            <a:p>
              <a:pPr marL="0" lvl="0" indent="0" algn="just">
                <a:lnSpc>
                  <a:spcPts val="3765"/>
                </a:lnSpc>
              </a:pPr>
              <a:r>
                <a:rPr lang="en-US" sz="2690" b="1" spc="-67">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CUT LOW-ROAS SPEND</a:t>
              </a:r>
              <a:endParaRPr lang="en-US" sz="2690" b="1" spc="-67">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12" name="TextBox 12"/>
            <p:cNvSpPr txBox="1"/>
            <p:nvPr/>
          </p:nvSpPr>
          <p:spPr>
            <a:xfrm>
              <a:off x="790316" y="3502727"/>
              <a:ext cx="16432223" cy="1780574"/>
            </a:xfrm>
            <a:prstGeom prst="rect">
              <a:avLst/>
            </a:prstGeom>
          </p:spPr>
          <p:txBody>
            <a:bodyPr lIns="0" tIns="0" rIns="0" bIns="0" rtlCol="0" anchor="t">
              <a:spAutoFit/>
            </a:bodyPr>
            <a:lstStyle/>
            <a:p>
              <a:pPr marL="0" lvl="0" indent="0" algn="just">
                <a:lnSpc>
                  <a:spcPts val="3570"/>
                </a:lnSpc>
              </a:pPr>
              <a:r>
                <a:rPr lang="en-US" sz="2550" spc="-63">
                  <a:solidFill>
                    <a:srgbClr val="3A58E4"/>
                  </a:solidFill>
                  <a:latin typeface="Poppins" panose="00000500000000000000"/>
                  <a:ea typeface="Poppins" panose="00000500000000000000"/>
                  <a:cs typeface="Poppins" panose="00000500000000000000"/>
                  <a:sym typeface="Poppins" panose="00000500000000000000"/>
                </a:rPr>
                <a:t>Reduce spending on Email Marketing and Facebook Ads, which show the lowest ROAS. These platforms can be downsized without significant impact on overall acquisition.</a:t>
              </a:r>
              <a:endParaRPr lang="en-US" sz="2550" spc="-63">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3" name="TextBox 13"/>
            <p:cNvSpPr txBox="1"/>
            <p:nvPr/>
          </p:nvSpPr>
          <p:spPr>
            <a:xfrm>
              <a:off x="790316" y="5542673"/>
              <a:ext cx="13017586" cy="620126"/>
            </a:xfrm>
            <a:prstGeom prst="rect">
              <a:avLst/>
            </a:prstGeom>
          </p:spPr>
          <p:txBody>
            <a:bodyPr lIns="0" tIns="0" rIns="0" bIns="0" rtlCol="0" anchor="t">
              <a:spAutoFit/>
            </a:bodyPr>
            <a:lstStyle/>
            <a:p>
              <a:pPr marL="0" lvl="0" indent="0" algn="just">
                <a:lnSpc>
                  <a:spcPts val="3765"/>
                </a:lnSpc>
              </a:pPr>
              <a:r>
                <a:rPr lang="en-US" sz="2690" b="1" spc="-67">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rPr>
                <a:t>INVEST IN HIGH-ROAS</a:t>
              </a:r>
              <a:endParaRPr lang="en-US" sz="2690" b="1" spc="-67">
                <a:gradFill>
                  <a:gsLst>
                    <a:gs pos="0">
                      <a:srgbClr val="293E9C">
                        <a:alpha val="100000"/>
                      </a:srgbClr>
                    </a:gs>
                    <a:gs pos="100000">
                      <a:srgbClr val="3A58E4">
                        <a:alpha val="100000"/>
                      </a:srgbClr>
                    </a:gs>
                  </a:gsLst>
                  <a:path path="circle">
                    <a:fillToRect r="100000" b="100000"/>
                  </a:path>
                  <a:tileRect l="-100000" t="-100000"/>
                </a:gradFill>
                <a:latin typeface="Poppins Bold" panose="00000800000000000000"/>
                <a:ea typeface="Poppins Bold" panose="00000800000000000000"/>
                <a:cs typeface="Poppins Bold" panose="00000800000000000000"/>
                <a:sym typeface="Poppins Bold" panose="00000800000000000000"/>
              </a:endParaRPr>
            </a:p>
          </p:txBody>
        </p:sp>
        <p:sp>
          <p:nvSpPr>
            <p:cNvPr id="14" name="TextBox 14"/>
            <p:cNvSpPr txBox="1"/>
            <p:nvPr/>
          </p:nvSpPr>
          <p:spPr>
            <a:xfrm>
              <a:off x="790316" y="6238999"/>
              <a:ext cx="16432223" cy="1780574"/>
            </a:xfrm>
            <a:prstGeom prst="rect">
              <a:avLst/>
            </a:prstGeom>
          </p:spPr>
          <p:txBody>
            <a:bodyPr lIns="0" tIns="0" rIns="0" bIns="0" rtlCol="0" anchor="t">
              <a:spAutoFit/>
            </a:bodyPr>
            <a:lstStyle/>
            <a:p>
              <a:pPr marL="0" lvl="0" indent="0" algn="just">
                <a:lnSpc>
                  <a:spcPts val="3570"/>
                </a:lnSpc>
              </a:pPr>
              <a:r>
                <a:rPr lang="en-US" sz="2550" spc="-63">
                  <a:solidFill>
                    <a:srgbClr val="3A58E4"/>
                  </a:solidFill>
                  <a:latin typeface="Poppins" panose="00000500000000000000"/>
                  <a:ea typeface="Poppins" panose="00000500000000000000"/>
                  <a:cs typeface="Poppins" panose="00000500000000000000"/>
                  <a:sym typeface="Poppins" panose="00000500000000000000"/>
                </a:rPr>
                <a:t>Maintain or increase investment in TikTok Ads (24.4 ROAS) and Influencer Marketing (23.4 ROAS). Review Google Ads campaigns for improved targeting and efficiency.</a:t>
              </a:r>
              <a:endParaRPr lang="en-US" sz="2550" spc="-63">
                <a:solidFill>
                  <a:srgbClr val="3A58E4"/>
                </a:solidFill>
                <a:latin typeface="Poppins" panose="00000500000000000000"/>
                <a:ea typeface="Poppins" panose="00000500000000000000"/>
                <a:cs typeface="Poppins" panose="00000500000000000000"/>
                <a:sym typeface="Poppins" panose="00000500000000000000"/>
              </a:endParaRPr>
            </a:p>
          </p:txBody>
        </p:sp>
        <p:sp>
          <p:nvSpPr>
            <p:cNvPr id="15" name="TextBox 15"/>
            <p:cNvSpPr txBox="1"/>
            <p:nvPr/>
          </p:nvSpPr>
          <p:spPr>
            <a:xfrm>
              <a:off x="203033" y="113991"/>
              <a:ext cx="1174566" cy="431642"/>
            </a:xfrm>
            <a:prstGeom prst="rect">
              <a:avLst/>
            </a:prstGeom>
          </p:spPr>
          <p:txBody>
            <a:bodyPr lIns="0" tIns="0" rIns="0" bIns="0" rtlCol="0" anchor="t">
              <a:spAutoFit/>
            </a:bodyPr>
            <a:lstStyle/>
            <a:p>
              <a:pPr marL="0" lvl="0" indent="0" algn="l">
                <a:lnSpc>
                  <a:spcPts val="2380"/>
                </a:lnSpc>
              </a:pPr>
              <a:r>
                <a:rPr lang="en-US" sz="2405" spc="-72">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rPr>
                <a:t>01</a:t>
              </a:r>
              <a:endParaRPr lang="en-US" sz="2405" spc="-72">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6" name="TextBox 16"/>
            <p:cNvSpPr txBox="1"/>
            <p:nvPr/>
          </p:nvSpPr>
          <p:spPr>
            <a:xfrm>
              <a:off x="0" y="2994885"/>
              <a:ext cx="1174566" cy="431642"/>
            </a:xfrm>
            <a:prstGeom prst="rect">
              <a:avLst/>
            </a:prstGeom>
          </p:spPr>
          <p:txBody>
            <a:bodyPr lIns="0" tIns="0" rIns="0" bIns="0" rtlCol="0" anchor="t">
              <a:spAutoFit/>
            </a:bodyPr>
            <a:lstStyle/>
            <a:p>
              <a:pPr marL="0" lvl="0" indent="0" algn="l">
                <a:lnSpc>
                  <a:spcPts val="2380"/>
                </a:lnSpc>
              </a:pPr>
              <a:r>
                <a:rPr lang="en-US" sz="2405" spc="-72">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rPr>
                <a:t>02</a:t>
              </a:r>
              <a:endParaRPr lang="en-US" sz="2405" spc="-72">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
          <p:nvSpPr>
            <p:cNvPr id="17" name="TextBox 17"/>
            <p:cNvSpPr txBox="1"/>
            <p:nvPr/>
          </p:nvSpPr>
          <p:spPr>
            <a:xfrm>
              <a:off x="0" y="5731156"/>
              <a:ext cx="1174566" cy="431642"/>
            </a:xfrm>
            <a:prstGeom prst="rect">
              <a:avLst/>
            </a:prstGeom>
          </p:spPr>
          <p:txBody>
            <a:bodyPr lIns="0" tIns="0" rIns="0" bIns="0" rtlCol="0" anchor="t">
              <a:spAutoFit/>
            </a:bodyPr>
            <a:lstStyle/>
            <a:p>
              <a:pPr marL="0" lvl="0" indent="0" algn="l">
                <a:lnSpc>
                  <a:spcPts val="2380"/>
                </a:lnSpc>
              </a:pPr>
              <a:r>
                <a:rPr lang="en-US" sz="2405" spc="-72">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rPr>
                <a:t>03</a:t>
              </a:r>
              <a:endParaRPr lang="en-US" sz="2405" spc="-72">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grpSp>
        <p:nvGrpSpPr>
          <p:cNvPr id="18" name="Group 18"/>
          <p:cNvGrpSpPr/>
          <p:nvPr/>
        </p:nvGrpSpPr>
        <p:grpSpPr>
          <a:xfrm rot="0">
            <a:off x="4351255" y="1136593"/>
            <a:ext cx="47625" cy="1542868"/>
            <a:chOff x="0" y="0"/>
            <a:chExt cx="24659" cy="798846"/>
          </a:xfrm>
        </p:grpSpPr>
        <p:sp>
          <p:nvSpPr>
            <p:cNvPr id="19" name="Freeform 19"/>
            <p:cNvSpPr/>
            <p:nvPr/>
          </p:nvSpPr>
          <p:spPr>
            <a:xfrm>
              <a:off x="0" y="0"/>
              <a:ext cx="24659" cy="798846"/>
            </a:xfrm>
            <a:custGeom>
              <a:avLst/>
              <a:gdLst/>
              <a:ahLst/>
              <a:cxnLst/>
              <a:rect l="l" t="t" r="r" b="b"/>
              <a:pathLst>
                <a:path w="24659" h="798846">
                  <a:moveTo>
                    <a:pt x="0" y="0"/>
                  </a:moveTo>
                  <a:lnTo>
                    <a:pt x="24659" y="0"/>
                  </a:lnTo>
                  <a:lnTo>
                    <a:pt x="24659" y="798846"/>
                  </a:lnTo>
                  <a:lnTo>
                    <a:pt x="0" y="798846"/>
                  </a:lnTo>
                  <a:close/>
                </a:path>
              </a:pathLst>
            </a:custGeom>
            <a:solidFill>
              <a:srgbClr val="2B42A8"/>
            </a:solidFill>
          </p:spPr>
        </p:sp>
        <p:sp>
          <p:nvSpPr>
            <p:cNvPr id="20" name="TextBox 20"/>
            <p:cNvSpPr txBox="1"/>
            <p:nvPr/>
          </p:nvSpPr>
          <p:spPr>
            <a:xfrm>
              <a:off x="0" y="-38100"/>
              <a:ext cx="24659" cy="836946"/>
            </a:xfrm>
            <a:prstGeom prst="rect">
              <a:avLst/>
            </a:prstGeom>
          </p:spPr>
          <p:txBody>
            <a:bodyPr lIns="50800" tIns="50800" rIns="50800" bIns="50800" rtlCol="0" anchor="ctr"/>
            <a:lstStyle/>
            <a:p>
              <a:pPr marL="0" lvl="0" indent="0" algn="ctr">
                <a:lnSpc>
                  <a:spcPts val="2660"/>
                </a:lnSpc>
                <a:spcBef>
                  <a:spcPct val="0"/>
                </a:spcBef>
              </a:pPr>
            </a:p>
          </p:txBody>
        </p:sp>
      </p:grpSp>
      <p:sp>
        <p:nvSpPr>
          <p:cNvPr id="21" name="TextBox 21"/>
          <p:cNvSpPr txBox="1"/>
          <p:nvPr/>
        </p:nvSpPr>
        <p:spPr>
          <a:xfrm>
            <a:off x="4718409" y="1534175"/>
            <a:ext cx="5949335" cy="965431"/>
          </a:xfrm>
          <a:prstGeom prst="rect">
            <a:avLst/>
          </a:prstGeom>
        </p:spPr>
        <p:txBody>
          <a:bodyPr lIns="0" tIns="0" rIns="0" bIns="0" rtlCol="0" anchor="t">
            <a:spAutoFit/>
          </a:bodyPr>
          <a:lstStyle/>
          <a:p>
            <a:pPr marL="0" lvl="0" indent="0" algn="l">
              <a:lnSpc>
                <a:spcPts val="7135"/>
              </a:lnSpc>
            </a:pPr>
            <a:r>
              <a:rPr lang="en-US" sz="7280" spc="-465">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rPr>
              <a:t>Marketing ROI</a:t>
            </a:r>
            <a:endParaRPr lang="en-US" sz="7280" spc="-465">
              <a:solidFill>
                <a:srgbClr val="3A58E4"/>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02285" y="211358"/>
            <a:ext cx="47625" cy="1072114"/>
            <a:chOff x="0" y="0"/>
            <a:chExt cx="12543" cy="282368"/>
          </a:xfrm>
        </p:grpSpPr>
        <p:sp>
          <p:nvSpPr>
            <p:cNvPr id="3" name="Freeform 3"/>
            <p:cNvSpPr/>
            <p:nvPr/>
          </p:nvSpPr>
          <p:spPr>
            <a:xfrm>
              <a:off x="0" y="0"/>
              <a:ext cx="12543" cy="282368"/>
            </a:xfrm>
            <a:custGeom>
              <a:avLst/>
              <a:gdLst/>
              <a:ahLst/>
              <a:cxnLst/>
              <a:rect l="l" t="t" r="r" b="b"/>
              <a:pathLst>
                <a:path w="12543" h="282368">
                  <a:moveTo>
                    <a:pt x="0" y="0"/>
                  </a:moveTo>
                  <a:lnTo>
                    <a:pt x="12543" y="0"/>
                  </a:lnTo>
                  <a:lnTo>
                    <a:pt x="12543" y="282368"/>
                  </a:lnTo>
                  <a:lnTo>
                    <a:pt x="0" y="282368"/>
                  </a:lnTo>
                  <a:close/>
                </a:path>
              </a:pathLst>
            </a:custGeom>
            <a:solidFill>
              <a:srgbClr val="3A58E4"/>
            </a:solidFill>
          </p:spPr>
        </p:sp>
        <p:sp>
          <p:nvSpPr>
            <p:cNvPr id="4" name="TextBox 4"/>
            <p:cNvSpPr txBox="1"/>
            <p:nvPr/>
          </p:nvSpPr>
          <p:spPr>
            <a:xfrm>
              <a:off x="0" y="-38100"/>
              <a:ext cx="12543" cy="320468"/>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5" name="Group 5"/>
          <p:cNvGrpSpPr/>
          <p:nvPr/>
        </p:nvGrpSpPr>
        <p:grpSpPr>
          <a:xfrm rot="0">
            <a:off x="17003286" y="0"/>
            <a:ext cx="1284714" cy="1283473"/>
            <a:chOff x="0" y="0"/>
            <a:chExt cx="1712952" cy="1711297"/>
          </a:xfrm>
        </p:grpSpPr>
        <p:grpSp>
          <p:nvGrpSpPr>
            <p:cNvPr id="6" name="Group 6"/>
            <p:cNvGrpSpPr/>
            <p:nvPr/>
          </p:nvGrpSpPr>
          <p:grpSpPr>
            <a:xfrm rot="0">
              <a:off x="0" y="0"/>
              <a:ext cx="1712952" cy="1711297"/>
              <a:chOff x="0" y="0"/>
              <a:chExt cx="787566" cy="786805"/>
            </a:xfrm>
          </p:grpSpPr>
          <p:sp>
            <p:nvSpPr>
              <p:cNvPr id="7" name="Freeform 7"/>
              <p:cNvSpPr/>
              <p:nvPr/>
            </p:nvSpPr>
            <p:spPr>
              <a:xfrm>
                <a:off x="0" y="0"/>
                <a:ext cx="787566" cy="786805"/>
              </a:xfrm>
              <a:custGeom>
                <a:avLst/>
                <a:gdLst/>
                <a:ahLst/>
                <a:cxnLst/>
                <a:rect l="l" t="t" r="r" b="b"/>
                <a:pathLst>
                  <a:path w="787566" h="786805">
                    <a:moveTo>
                      <a:pt x="0" y="0"/>
                    </a:moveTo>
                    <a:lnTo>
                      <a:pt x="787566" y="0"/>
                    </a:lnTo>
                    <a:lnTo>
                      <a:pt x="787566" y="786805"/>
                    </a:lnTo>
                    <a:lnTo>
                      <a:pt x="0" y="786805"/>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8" name="TextBox 8"/>
              <p:cNvSpPr txBox="1"/>
              <p:nvPr/>
            </p:nvSpPr>
            <p:spPr>
              <a:xfrm>
                <a:off x="0" y="-38100"/>
                <a:ext cx="787566" cy="824905"/>
              </a:xfrm>
              <a:prstGeom prst="rect">
                <a:avLst/>
              </a:prstGeom>
            </p:spPr>
            <p:txBody>
              <a:bodyPr lIns="50800" tIns="50800" rIns="50800" bIns="50800" rtlCol="0" anchor="ctr"/>
              <a:lstStyle/>
              <a:p>
                <a:pPr marL="0" lvl="0" indent="0" algn="ctr">
                  <a:lnSpc>
                    <a:spcPts val="2660"/>
                  </a:lnSpc>
                  <a:spcBef>
                    <a:spcPct val="0"/>
                  </a:spcBef>
                </a:pPr>
              </a:p>
            </p:txBody>
          </p:sp>
        </p:grpSp>
        <p:sp>
          <p:nvSpPr>
            <p:cNvPr id="9" name="TextBox 9"/>
            <p:cNvSpPr txBox="1"/>
            <p:nvPr/>
          </p:nvSpPr>
          <p:spPr>
            <a:xfrm>
              <a:off x="221646" y="491246"/>
              <a:ext cx="1269661" cy="824054"/>
            </a:xfrm>
            <a:prstGeom prst="rect">
              <a:avLst/>
            </a:prstGeom>
          </p:spPr>
          <p:txBody>
            <a:bodyPr lIns="0" tIns="0" rIns="0" bIns="0" rtlCol="0" anchor="t">
              <a:spAutoFit/>
            </a:bodyPr>
            <a:lstStyle/>
            <a:p>
              <a:pPr marL="0" lvl="0" indent="0" algn="ctr">
                <a:lnSpc>
                  <a:spcPts val="4460"/>
                </a:lnSpc>
              </a:pPr>
              <a:r>
                <a:rPr lang="en-US" sz="4555" spc="-29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15</a:t>
              </a:r>
              <a:endParaRPr lang="en-US" sz="4555" spc="-291">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0" name="Freeform 10"/>
          <p:cNvSpPr/>
          <p:nvPr/>
        </p:nvSpPr>
        <p:spPr>
          <a:xfrm>
            <a:off x="786562" y="1463008"/>
            <a:ext cx="16216724" cy="8722096"/>
          </a:xfrm>
          <a:custGeom>
            <a:avLst/>
            <a:gdLst/>
            <a:ahLst/>
            <a:cxnLst/>
            <a:rect l="l" t="t" r="r" b="b"/>
            <a:pathLst>
              <a:path w="16216724" h="8722096">
                <a:moveTo>
                  <a:pt x="0" y="0"/>
                </a:moveTo>
                <a:lnTo>
                  <a:pt x="16216724" y="0"/>
                </a:lnTo>
                <a:lnTo>
                  <a:pt x="16216724" y="8722095"/>
                </a:lnTo>
                <a:lnTo>
                  <a:pt x="0" y="8722095"/>
                </a:lnTo>
                <a:lnTo>
                  <a:pt x="0" y="0"/>
                </a:lnTo>
                <a:close/>
              </a:path>
            </a:pathLst>
          </a:custGeom>
          <a:blipFill>
            <a:blip r:embed="rId1"/>
            <a:stretch>
              <a:fillRect/>
            </a:stretch>
          </a:blipFill>
        </p:spPr>
      </p:sp>
      <p:sp>
        <p:nvSpPr>
          <p:cNvPr id="11" name="TextBox 11"/>
          <p:cNvSpPr txBox="1"/>
          <p:nvPr/>
        </p:nvSpPr>
        <p:spPr>
          <a:xfrm>
            <a:off x="588815" y="453044"/>
            <a:ext cx="7010443" cy="703042"/>
          </a:xfrm>
          <a:prstGeom prst="rect">
            <a:avLst/>
          </a:prstGeom>
        </p:spPr>
        <p:txBody>
          <a:bodyPr lIns="0" tIns="0" rIns="0" bIns="0" rtlCol="0" anchor="t">
            <a:spAutoFit/>
          </a:bodyPr>
          <a:lstStyle/>
          <a:p>
            <a:pPr marL="0" lvl="0" indent="0" algn="l">
              <a:lnSpc>
                <a:spcPts val="5280"/>
              </a:lnSpc>
            </a:pPr>
            <a:r>
              <a:rPr lang="en-US" sz="5390" spc="-344">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Dashboard Preview</a:t>
            </a:r>
            <a:endParaRPr lang="en-US" sz="5390" spc="-344">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350713" y="257840"/>
            <a:ext cx="47625" cy="878404"/>
            <a:chOff x="0" y="0"/>
            <a:chExt cx="12543" cy="231349"/>
          </a:xfrm>
        </p:grpSpPr>
        <p:sp>
          <p:nvSpPr>
            <p:cNvPr id="3" name="Freeform 3"/>
            <p:cNvSpPr/>
            <p:nvPr/>
          </p:nvSpPr>
          <p:spPr>
            <a:xfrm>
              <a:off x="0" y="0"/>
              <a:ext cx="12543" cy="231349"/>
            </a:xfrm>
            <a:custGeom>
              <a:avLst/>
              <a:gdLst/>
              <a:ahLst/>
              <a:cxnLst/>
              <a:rect l="l" t="t" r="r" b="b"/>
              <a:pathLst>
                <a:path w="12543" h="231349">
                  <a:moveTo>
                    <a:pt x="0" y="0"/>
                  </a:moveTo>
                  <a:lnTo>
                    <a:pt x="12543" y="0"/>
                  </a:lnTo>
                  <a:lnTo>
                    <a:pt x="12543" y="231349"/>
                  </a:lnTo>
                  <a:lnTo>
                    <a:pt x="0" y="231349"/>
                  </a:lnTo>
                  <a:close/>
                </a:path>
              </a:pathLst>
            </a:custGeom>
            <a:solidFill>
              <a:srgbClr val="3A58E4"/>
            </a:solidFill>
          </p:spPr>
        </p:sp>
        <p:sp>
          <p:nvSpPr>
            <p:cNvPr id="4" name="TextBox 4"/>
            <p:cNvSpPr txBox="1"/>
            <p:nvPr/>
          </p:nvSpPr>
          <p:spPr>
            <a:xfrm>
              <a:off x="0" y="-38100"/>
              <a:ext cx="12543" cy="269449"/>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5" name="Group 5"/>
          <p:cNvGrpSpPr/>
          <p:nvPr/>
        </p:nvGrpSpPr>
        <p:grpSpPr>
          <a:xfrm rot="0">
            <a:off x="16977193" y="129"/>
            <a:ext cx="1310807" cy="1309449"/>
            <a:chOff x="0" y="0"/>
            <a:chExt cx="1747742" cy="1745932"/>
          </a:xfrm>
        </p:grpSpPr>
        <p:grpSp>
          <p:nvGrpSpPr>
            <p:cNvPr id="6" name="Group 6"/>
            <p:cNvGrpSpPr/>
            <p:nvPr/>
          </p:nvGrpSpPr>
          <p:grpSpPr>
            <a:xfrm rot="0">
              <a:off x="0" y="0"/>
              <a:ext cx="1747742" cy="1745932"/>
              <a:chOff x="0" y="0"/>
              <a:chExt cx="787566" cy="786750"/>
            </a:xfrm>
          </p:grpSpPr>
          <p:sp>
            <p:nvSpPr>
              <p:cNvPr id="7" name="Freeform 7"/>
              <p:cNvSpPr/>
              <p:nvPr/>
            </p:nvSpPr>
            <p:spPr>
              <a:xfrm>
                <a:off x="0" y="0"/>
                <a:ext cx="787566" cy="786750"/>
              </a:xfrm>
              <a:custGeom>
                <a:avLst/>
                <a:gdLst/>
                <a:ahLst/>
                <a:cxnLst/>
                <a:rect l="l" t="t" r="r" b="b"/>
                <a:pathLst>
                  <a:path w="787566" h="786750">
                    <a:moveTo>
                      <a:pt x="0" y="0"/>
                    </a:moveTo>
                    <a:lnTo>
                      <a:pt x="787566" y="0"/>
                    </a:lnTo>
                    <a:lnTo>
                      <a:pt x="787566" y="786750"/>
                    </a:lnTo>
                    <a:lnTo>
                      <a:pt x="0" y="786750"/>
                    </a:lnTo>
                    <a:close/>
                  </a:path>
                </a:pathLst>
              </a:custGeom>
              <a:gradFill rotWithShape="1">
                <a:gsLst>
                  <a:gs pos="0">
                    <a:srgbClr val="3A58E4">
                      <a:alpha val="100000"/>
                    </a:srgbClr>
                  </a:gs>
                  <a:gs pos="100000">
                    <a:srgbClr val="293E9C">
                      <a:alpha val="100000"/>
                    </a:srgbClr>
                  </a:gs>
                </a:gsLst>
                <a:path path="circle">
                  <a:fillToRect r="100000" b="100000"/>
                </a:path>
                <a:tileRect l="-100000" t="-100000"/>
              </a:gradFill>
            </p:spPr>
          </p:sp>
          <p:sp>
            <p:nvSpPr>
              <p:cNvPr id="8" name="TextBox 8"/>
              <p:cNvSpPr txBox="1"/>
              <p:nvPr/>
            </p:nvSpPr>
            <p:spPr>
              <a:xfrm>
                <a:off x="0" y="-38100"/>
                <a:ext cx="787566" cy="824850"/>
              </a:xfrm>
              <a:prstGeom prst="rect">
                <a:avLst/>
              </a:prstGeom>
            </p:spPr>
            <p:txBody>
              <a:bodyPr lIns="50800" tIns="50800" rIns="50800" bIns="50800" rtlCol="0" anchor="ctr"/>
              <a:lstStyle/>
              <a:p>
                <a:pPr marL="0" lvl="0" indent="0" algn="ctr">
                  <a:lnSpc>
                    <a:spcPts val="2660"/>
                  </a:lnSpc>
                  <a:spcBef>
                    <a:spcPct val="0"/>
                  </a:spcBef>
                </a:pPr>
              </a:p>
            </p:txBody>
          </p:sp>
        </p:grpSp>
        <p:sp>
          <p:nvSpPr>
            <p:cNvPr id="9" name="TextBox 9"/>
            <p:cNvSpPr txBox="1"/>
            <p:nvPr/>
          </p:nvSpPr>
          <p:spPr>
            <a:xfrm>
              <a:off x="226147" y="499289"/>
              <a:ext cx="1295448" cy="842604"/>
            </a:xfrm>
            <a:prstGeom prst="rect">
              <a:avLst/>
            </a:prstGeom>
          </p:spPr>
          <p:txBody>
            <a:bodyPr lIns="0" tIns="0" rIns="0" bIns="0" rtlCol="0" anchor="t">
              <a:spAutoFit/>
            </a:bodyPr>
            <a:lstStyle/>
            <a:p>
              <a:pPr marL="0" lvl="0" indent="0" algn="ctr">
                <a:lnSpc>
                  <a:spcPts val="4550"/>
                </a:lnSpc>
              </a:pPr>
              <a:r>
                <a:rPr lang="en-US" sz="4640" spc="-29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rPr>
                <a:t>16</a:t>
              </a:r>
              <a:endParaRPr lang="en-US" sz="4640" spc="-297">
                <a:solidFill>
                  <a:srgbClr val="FFFFFF"/>
                </a:solidFill>
                <a:latin typeface="Bricolage Grotesque" panose="020B0605040402000204"/>
                <a:ea typeface="Bricolage Grotesque" panose="020B0605040402000204"/>
                <a:cs typeface="Bricolage Grotesque" panose="020B0605040402000204"/>
                <a:sym typeface="Bricolage Grotesque" panose="020B0605040402000204"/>
              </a:endParaRPr>
            </a:p>
          </p:txBody>
        </p:sp>
      </p:grpSp>
      <p:sp>
        <p:nvSpPr>
          <p:cNvPr id="10" name="Freeform 10"/>
          <p:cNvSpPr/>
          <p:nvPr/>
        </p:nvSpPr>
        <p:spPr>
          <a:xfrm>
            <a:off x="900351" y="1417121"/>
            <a:ext cx="16358949" cy="8683725"/>
          </a:xfrm>
          <a:custGeom>
            <a:avLst/>
            <a:gdLst/>
            <a:ahLst/>
            <a:cxnLst/>
            <a:rect l="l" t="t" r="r" b="b"/>
            <a:pathLst>
              <a:path w="16358949" h="8683725">
                <a:moveTo>
                  <a:pt x="0" y="0"/>
                </a:moveTo>
                <a:lnTo>
                  <a:pt x="16358949" y="0"/>
                </a:lnTo>
                <a:lnTo>
                  <a:pt x="16358949" y="8683725"/>
                </a:lnTo>
                <a:lnTo>
                  <a:pt x="0" y="8683725"/>
                </a:lnTo>
                <a:lnTo>
                  <a:pt x="0" y="0"/>
                </a:lnTo>
                <a:close/>
              </a:path>
            </a:pathLst>
          </a:custGeom>
          <a:blipFill>
            <a:blip r:embed="rId1"/>
            <a:stretch>
              <a:fillRect t="-1052" b="-1052"/>
            </a:stretch>
          </a:blipFill>
        </p:spPr>
      </p:sp>
      <p:sp>
        <p:nvSpPr>
          <p:cNvPr id="11" name="TextBox 11"/>
          <p:cNvSpPr txBox="1"/>
          <p:nvPr/>
        </p:nvSpPr>
        <p:spPr>
          <a:xfrm>
            <a:off x="627206" y="362615"/>
            <a:ext cx="5412331" cy="666085"/>
          </a:xfrm>
          <a:prstGeom prst="rect">
            <a:avLst/>
          </a:prstGeom>
        </p:spPr>
        <p:txBody>
          <a:bodyPr lIns="0" tIns="0" rIns="0" bIns="0" rtlCol="0" anchor="t">
            <a:spAutoFit/>
          </a:bodyPr>
          <a:lstStyle/>
          <a:p>
            <a:pPr marL="0" lvl="0" indent="0" algn="l">
              <a:lnSpc>
                <a:spcPts val="4990"/>
              </a:lnSpc>
            </a:pPr>
            <a:r>
              <a:rPr lang="en-US" sz="5090" spc="-325">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Dashboard Preview</a:t>
            </a:r>
            <a:endParaRPr lang="en-US" sz="5090" spc="-325">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36475" y="2067950"/>
            <a:ext cx="7693279" cy="2489701"/>
          </a:xfrm>
          <a:prstGeom prst="rect">
            <a:avLst/>
          </a:prstGeom>
        </p:spPr>
        <p:txBody>
          <a:bodyPr lIns="0" tIns="0" rIns="0" bIns="0" rtlCol="0" anchor="t">
            <a:spAutoFit/>
          </a:bodyPr>
          <a:lstStyle/>
          <a:p>
            <a:pPr marL="0" lvl="0" indent="0" algn="l">
              <a:lnSpc>
                <a:spcPts val="9595"/>
              </a:lnSpc>
            </a:pPr>
            <a:r>
              <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rPr>
              <a:t>CONCLUSION</a:t>
            </a:r>
            <a:endParaRPr lang="en-US" sz="9790" spc="-626">
              <a:gradFill>
                <a:gsLst>
                  <a:gs pos="0">
                    <a:srgbClr val="293E9C">
                      <a:alpha val="100000"/>
                    </a:srgbClr>
                  </a:gs>
                  <a:gs pos="100000">
                    <a:srgbClr val="3A58E4">
                      <a:alpha val="100000"/>
                    </a:srgbClr>
                  </a:gs>
                </a:gsLst>
                <a:path path="circle">
                  <a:fillToRect r="100000" b="100000"/>
                </a:path>
                <a:tileRect l="-100000" t="-100000"/>
              </a:gradFill>
              <a:latin typeface="Bricolage Grotesque" panose="020B0605040402000204"/>
              <a:ea typeface="Bricolage Grotesque" panose="020B0605040402000204"/>
              <a:cs typeface="Bricolage Grotesque" panose="020B0605040402000204"/>
              <a:sym typeface="Bricolage Grotesque" panose="020B0605040402000204"/>
            </a:endParaRPr>
          </a:p>
          <a:p>
            <a:pPr marL="0" lvl="0" indent="0" algn="l">
              <a:lnSpc>
                <a:spcPts val="9595"/>
              </a:lnSpc>
            </a:pPr>
          </a:p>
        </p:txBody>
      </p:sp>
      <p:sp>
        <p:nvSpPr>
          <p:cNvPr id="3" name="TextBox 3"/>
          <p:cNvSpPr txBox="1"/>
          <p:nvPr/>
        </p:nvSpPr>
        <p:spPr>
          <a:xfrm>
            <a:off x="1267882" y="4164455"/>
            <a:ext cx="15292174" cy="3742033"/>
          </a:xfrm>
          <a:prstGeom prst="rect">
            <a:avLst/>
          </a:prstGeom>
        </p:spPr>
        <p:txBody>
          <a:bodyPr lIns="0" tIns="0" rIns="0" bIns="0" rtlCol="0" anchor="t">
            <a:spAutoFit/>
          </a:bodyPr>
          <a:lstStyle/>
          <a:p>
            <a:pPr marL="0" lvl="0" indent="0" algn="just">
              <a:lnSpc>
                <a:spcPts val="3745"/>
              </a:lnSpc>
            </a:pPr>
            <a:r>
              <a:rPr lang="en-US" sz="2675" spc="-8">
                <a:solidFill>
                  <a:srgbClr val="3A58E4"/>
                </a:solidFill>
                <a:latin typeface="Poppins" panose="00000500000000000000"/>
                <a:ea typeface="Poppins" panose="00000500000000000000"/>
                <a:cs typeface="Poppins" panose="00000500000000000000"/>
                <a:sym typeface="Poppins" panose="00000500000000000000"/>
              </a:rPr>
              <a:t>Th</a:t>
            </a:r>
            <a:r>
              <a:rPr lang="en-US" sz="2675" spc="-8">
                <a:solidFill>
                  <a:srgbClr val="3A58E4"/>
                </a:solidFill>
                <a:latin typeface="Poppins" panose="00000500000000000000"/>
                <a:ea typeface="Poppins" panose="00000500000000000000"/>
                <a:cs typeface="Poppins" panose="00000500000000000000"/>
                <a:sym typeface="Poppins" panose="00000500000000000000"/>
              </a:rPr>
              <a:t>e analysis shows that cost management, rather than revenue growth, is the key driver of profitability. High shipping costs reduced margins in low-performing product categories, Marketplace profitability was constrained by platform fees, and product returns resulted in approximately 24.98K in lost revenue. Marketing performance varied significantly across platforms, with TikTok Ads and Influencer Marketing delivering the strongest returns. By optimizing shipping costs, reducing Marketplace expenses, minimizing returns, and reallocating marketing spend to high-performing channels, BrightCart can improve profitability and support sustainable business growth.</a:t>
            </a:r>
            <a:endParaRPr lang="en-US" sz="2675" spc="-8">
              <a:solidFill>
                <a:srgbClr val="3A58E4"/>
              </a:solidFill>
              <a:latin typeface="Poppins" panose="00000500000000000000"/>
              <a:ea typeface="Poppins" panose="00000500000000000000"/>
              <a:cs typeface="Poppins" panose="00000500000000000000"/>
              <a:sym typeface="Poppins" panose="0000050000000000000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93E9C"/>
        </a:solidFill>
        <a:effectLst/>
      </p:bgPr>
    </p:bg>
    <p:spTree>
      <p:nvGrpSpPr>
        <p:cNvPr id="1" name=""/>
        <p:cNvGrpSpPr/>
        <p:nvPr/>
      </p:nvGrpSpPr>
      <p:grpSpPr>
        <a:xfrm>
          <a:off x="0" y="0"/>
          <a:ext cx="0" cy="0"/>
          <a:chOff x="0" y="0"/>
          <a:chExt cx="0" cy="0"/>
        </a:xfrm>
      </p:grpSpPr>
      <p:sp>
        <p:nvSpPr>
          <p:cNvPr id="2" name="Freeform 2"/>
          <p:cNvSpPr/>
          <p:nvPr/>
        </p:nvSpPr>
        <p:spPr>
          <a:xfrm>
            <a:off x="6566200" y="5143500"/>
            <a:ext cx="4574468" cy="4045961"/>
          </a:xfrm>
          <a:custGeom>
            <a:avLst/>
            <a:gdLst/>
            <a:ahLst/>
            <a:cxnLst/>
            <a:rect l="l" t="t" r="r" b="b"/>
            <a:pathLst>
              <a:path w="4574468" h="4045961">
                <a:moveTo>
                  <a:pt x="0" y="0"/>
                </a:moveTo>
                <a:lnTo>
                  <a:pt x="4574468" y="0"/>
                </a:lnTo>
                <a:lnTo>
                  <a:pt x="4574468" y="4045961"/>
                </a:lnTo>
                <a:lnTo>
                  <a:pt x="0" y="4045961"/>
                </a:lnTo>
                <a:lnTo>
                  <a:pt x="0" y="0"/>
                </a:lnTo>
                <a:close/>
              </a:path>
            </a:pathLst>
          </a:custGeom>
          <a:blipFill>
            <a:blip r:embed="rId1"/>
            <a:stretch>
              <a:fillRect/>
            </a:stretch>
          </a:blipFill>
        </p:spPr>
      </p:sp>
      <p:sp>
        <p:nvSpPr>
          <p:cNvPr id="3" name="TextBox 3"/>
          <p:cNvSpPr txBox="1"/>
          <p:nvPr/>
        </p:nvSpPr>
        <p:spPr>
          <a:xfrm>
            <a:off x="5615469" y="3395673"/>
            <a:ext cx="8265257" cy="1747827"/>
          </a:xfrm>
          <a:prstGeom prst="rect">
            <a:avLst/>
          </a:prstGeom>
        </p:spPr>
        <p:txBody>
          <a:bodyPr lIns="0" tIns="0" rIns="0" bIns="0" rtlCol="0" anchor="t">
            <a:spAutoFit/>
          </a:bodyPr>
          <a:lstStyle/>
          <a:p>
            <a:pPr marL="0" lvl="0" indent="0" algn="l">
              <a:lnSpc>
                <a:spcPts val="14265"/>
              </a:lnSpc>
              <a:spcBef>
                <a:spcPct val="0"/>
              </a:spcBef>
            </a:pPr>
            <a:r>
              <a:rPr lang="en-US" sz="10190" b="1" spc="-652">
                <a:solidFill>
                  <a:srgbClr val="FFFFFF"/>
                </a:solidFill>
                <a:latin typeface="Canva Sans Bold" panose="020B0803030501040103"/>
                <a:ea typeface="Canva Sans Bold" panose="020B0803030501040103"/>
                <a:cs typeface="Canva Sans Bold" panose="020B0803030501040103"/>
                <a:sym typeface="Canva Sans Bold" panose="020B0803030501040103"/>
              </a:rPr>
              <a:t>Thank You!</a:t>
            </a:r>
            <a:endParaRPr lang="en-US" sz="10190" b="1" spc="-652">
              <a:solidFill>
                <a:srgbClr val="FFFFFF"/>
              </a:solidFill>
              <a:latin typeface="Canva Sans Bold" panose="020B0803030501040103"/>
              <a:ea typeface="Canva Sans Bold" panose="020B0803030501040103"/>
              <a:cs typeface="Canva Sans Bold" panose="020B0803030501040103"/>
              <a:sym typeface="Canva Sans Bold" panose="020B0803030501040103"/>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7987</Words>
  <Application>WPS Presentation</Application>
  <PresentationFormat>On-screen Show (4:3)</PresentationFormat>
  <Paragraphs>268</Paragraphs>
  <Slides>19</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Arial</vt:lpstr>
      <vt:lpstr>SimSun</vt:lpstr>
      <vt:lpstr>Wingdings</vt:lpstr>
      <vt:lpstr>Poppins Bold</vt:lpstr>
      <vt:lpstr>Poppins</vt:lpstr>
      <vt:lpstr>Bricolage Grotesque</vt:lpstr>
      <vt:lpstr>Arial</vt:lpstr>
      <vt:lpstr>Bricolage Grotesque Bold</vt:lpstr>
      <vt:lpstr>Canva Sans Bold</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BrightCart Profitability Analysis Overview</dc:title>
  <dc:creator/>
  <cp:lastModifiedBy>User</cp:lastModifiedBy>
  <cp:revision>4</cp:revision>
  <dcterms:created xsi:type="dcterms:W3CDTF">2006-08-16T00:00:00Z</dcterms:created>
  <dcterms:modified xsi:type="dcterms:W3CDTF">2026-07-17T15:59:11Z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9746D37F620144E482ED0156BDA667B6_12</vt:lpwstr>
  </property>
  <property fmtid="{D5CDD505-2E9C-101B-9397-08002B2CF9AE}" pid="3" name="KSOProductBuildVer">
    <vt:lpwstr>1033-12.1.0.26880</vt:lpwstr>
  </property>
</Properties>
</file>